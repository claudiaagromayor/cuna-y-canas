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sin explicar nada: primero la escena. Laura entra con el portátil como si estuviera en su casa. La portada ya cuenta el problema en una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«Me llamo Laura. Tengo un bebé de seis meses, trabajo en Madrid y en mi piso ya no cabemos. Quiero mudarme… pero no sé ni por dónde empezar.» Inicio → Busco dónde vivir. Marca «Tengo un bebé» y «Trabajo en Madrid». El mapa cambia al momento. «Le digo mi situación y me ordena los 179 municipios. Y me explica qué mira: escuela infantil pública, centro de salud, hospital… Y para el trabajo no me premia vivir pegada a Madrid, sino llegar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Getafe → Comparar. Abrir Navalcarnero → Comparar → Ver comparación. «Getafe: Cercanías y Metro, abono B1. Navalcarnero: sin tren, zona B3… y con 9 autobuses directos.» En la ficha de Navalcarnero, bajar a «Lo que viene»: «Su plan urbanístico prevé 21.000 viviendas. Puede casi duplicarse. ¿Habrá plaza en la escuela infantil cuando llegue toda esa gente? Aquí me dice cuántas harán falta.» Pulsar Ficha PDF en los dos. «Me llevo las dos fichas para decidirlo con mi pareja.»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si va bien de tiempo: «Ver el mapa de Getafe» → Barrios → Los Molinos. «Tengo 4 de las 15 cosas que busco a 10 minutos; no hay centro de salud.» Pulsar un nombre de la lista: el mapa va hasta él. LAURA (cierre de escena, mirando al jurado): «Yo me mudo. Pero cuando lleguemos cientos de familias como yo… ¿quién se asegura de que haya colegio?»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CARMEN: «Yo. Soy técnica de planificación de la Comunidad de Madrid. Y hoy me entero de que faltan plazas cuando las familias ya están empadronadas. Siempre llegamos tarde.» Acceso técnicos (ya dentro) → Planificar → Navalcarnero, servicio Colegio. Leer la frase de arriba: «hacen falta 6 nuevos para 2035; el 1.º ya hoy…». Pulsar ▶: la gráfica corre de 2025 a 2040. «Cuántos niños de 3 a 11 años habrá cada año y cuándo hace falta cada colegio.» Señalar las ubicaciones: «Sobre parcelas de suelo público que siguen vacías.» Barra de abajo → «Quitar centro» y pulsar el 1: «¿Y si solo hay presupuesto para uno? Me dice al momento cuánta demanda dejo sin atender.» Volver a la propuesta automática. Natalidad −20 %: «¿Y si nacen menos niños? Lo recalcula y me dice qué propuestas aguantan.» CARMEN: «Laura elige con información. Yo planifico antes de que llegue. Los mismos datos, dos lecturas.»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LAURA: «Lo de Laura no es un caso: es la norma. Y va a volver a pasar: el planeamiento de la Comunidad ya prevé 513.000 viviendas. Entre 760.000 y 1,1 millones de personas. Harán falta entre 78.000 y 154.000 plazas de colegio y más de 30 centros de salud.» Dar siempre el rango: no inventamos una cifra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Casi un tercio de los vecinos de Los Molinos son menores de edad, y no tienen centro de salud ni escuela infantil pública a diez minutos andando. Esta es la frase que tiene que recordar el jurado del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«Cuna y Canas, de la cuna a las canas, anticipa ese desfase en los 178 municipios: cuánta gente va a llegar, qué servicios le van a faltar, si queda suelo público para ellos y dónde ponerlos.» Dos pantallas para la ciudadanía y una para técnicos, que solo se ve con su acceso.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misma base de datos sirve a las dos personas del role play. Al vecino no le enseñamos supuestos ni rangos técnicos; al técnico no le escondemos nada: puede tocar natalidad, llegada de población, tiempo a pie, número de centros, y ver el 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esto sale por API de los catálogos de la Comunidad, IDEM y Portal de Datos Abiertos, más INE y Consorcio de Transportes.» Si preguntan: además usamos Wikidata para las fotos de cada municipio (licencia libre) y CartoCiudad para buscar direcciones.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178 municipios se procesan solos en unos 40 minutos.» Madrid capital va aparte por tamaño. El verificador revisa códigos INE, geometrías válidas y distancias, y ahora mismo da 0 fallos. Todo el cálculo de la web corre en el navegador: no hace falta servidor, por eso se aloja gratis en Oracle Object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al cruzar fuentes encontramos errores en datos oficiales: centros de salud colocados en una calle con el mismo nombre en otra ciudad, paradas de Ciudad Real con el código de un pueblo de Madrid… Los detectamos, los corregimos, y se los podemos devolver a la Comunidad.» Cada municipio guarda un fichero de control con lo que se ha descartado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acierta? Hicimos la prueba con el pasado: predecimos barrios ya construidos sin mirar sus datos y lo comparamos con la población real del INE. Error medio del 19 %. La regla habitual, viviendas por tamaño del hogar, se equivoca el doble.» Si preguntan por qué Getafe: es donde hay barrios nuevos ya habitados con secciones censales pequeñas; en los pueblos las secciones son demasiado grandes. El rango lo recoge.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de la escala: un pueblo de 300 habitantes con una escuela no gana a una ciudad con veinte, porque la oferta pesa más que la ratio y la ratio tiene tope en la mediana. «Busco tranquilidad» usa poca densidad, naturaleza protegida (Red Natura y espacios protegidos de la IDEM) y zonas verdes (parques que existen según la encuesta de equipamientos locales).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se recalcula en el navegador al mover un deslizador: natalidad, llegada de población, minutos a pie, número de centros. El técnico puede añadir o quitar centros con la barra de debajo del mapa y ve cuánto cambia la cobertura. Supuestos de cada servicio (tasa de uso y capacidad) a la vista en «Supuestos avanzados».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quien busca casa: lo que ya hay (puntos negros, desde el primer momento) y dónde puede haber vivienda nueva (naranja). Las zonas industriales salen en gris: ahí no habrá viviendas. Los ámbitos sin número de viviendas en el planeamiento llevan una estimación con rango a partir de superficie y edificabilidad, marcada como estimación y fuera del cálculo de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veréis varios comparadores de municipios, y está muy bien. Pero los demás te dicen dónde vivir hoy. Cuna y Canas te dice qué va a faltar mañana, y dónde ponerlo. Es la única herramienta que une la demanda futura del planeamiento, el suelo público disponible y la decisión: dónde, cuándo y si aguanta. Y sirve a los dos lados: al vecino que elige casa y a quien tiene que construir el colegio.»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CARMEN: «No es una maqueta: está publicado en Oracle Cloud, funciona para cualquier municipio de la Comunidad y con un comando se actualiza con los datos nuevos. Cuesta cero: datos abiertos, software libre. Lo siguiente: leer automáticamente el BOCM y las licitaciones para saber qué colegios están ya en obras.» Enseñar un segundo la página de Datos abiertos si da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a dos voces. LAURA: «De la cuna…» CARMEN: «…a las canas. Servicios para cada etapa de la vida de un barrio.» LAS DOS: «Que la próxima vez, cuando lleguen las familias, el colegio ya esté esperándolas.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740569"/>
          </a:xfrm>
          <a:prstGeom prst="rect">
            <a:avLst/>
          </a:prstGeom>
          <a:noFill/>
          <a:ln/>
        </p:spPr>
        <p:txBody>
          <a:bodyPr wrap="square" lIns="0" tIns="0" rIns="0" bIns="0" rtlCol="0" anchor="t"/>
          <a:lstStyle>
            <a:lvl1pPr algn="l" indent="0" marL="0">
              <a:lnSpc>
                <a:spcPct val="115000"/>
              </a:lnSpc>
              <a:buNone/>
              <a:defRPr lang="en-US" sz="3600" dirty="0">
                <a:solidFill>
                  <a:srgbClr val="13131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3089"/>
            <a:ext cx="10566400" cy="3872111"/>
          </a:xfrm>
          <a:prstGeom prst="rect">
            <a:avLst/>
          </a:prstGeom>
          <a:noFill/>
          <a:ln/>
        </p:spPr>
        <p:txBody>
          <a:bodyPr wrap="square" lIns="0" tIns="0" rIns="0" bIns="0" rtlCol="0" anchor="t"/>
          <a:lstStyle>
            <a:lvl1pPr algn="l" indent="0" marL="0">
              <a:lnSpc>
                <a:spcPct val="140000"/>
              </a:lnSpc>
              <a:buNone/>
              <a:defRPr lang="en-US" sz="1600" dirty="0">
                <a:solidFill>
                  <a:srgbClr val="13131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740569"/>
          </a:xfrm>
          <a:prstGeom prst="rect">
            <a:avLst/>
          </a:prstGeom>
          <a:noFill/>
          <a:ln/>
        </p:spPr>
        <p:txBody>
          <a:bodyPr wrap="square" lIns="0" tIns="0" rIns="0" bIns="0" rtlCol="0" anchor="t"/>
          <a:lstStyle>
            <a:lvl1pPr algn="l" indent="0" marL="0">
              <a:lnSpc>
                <a:spcPct val="115000"/>
              </a:lnSpc>
              <a:buNone/>
              <a:defRPr lang="en-US" sz="3600" dirty="0">
                <a:solidFill>
                  <a:srgbClr val="13131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3089"/>
            <a:ext cx="10566400" cy="3872111"/>
          </a:xfrm>
          <a:prstGeom prst="rect">
            <a:avLst/>
          </a:prstGeom>
          <a:noFill/>
          <a:ln/>
        </p:spPr>
        <p:txBody>
          <a:bodyPr wrap="square" lIns="0" tIns="0" rIns="0" bIns="0" rtlCol="0" anchor="t"/>
          <a:lstStyle>
            <a:lvl1pPr algn="l" indent="0" marL="0">
              <a:lnSpc>
                <a:spcPct val="140000"/>
              </a:lnSpc>
              <a:buNone/>
              <a:defRPr lang="en-US" sz="1600" dirty="0">
                <a:solidFill>
                  <a:srgbClr val="13131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313"/>
        </a:solidFill>
      </p:bgPr>
    </p:bg>
    <p:spTree>
      <p:nvGrpSpPr>
        <p:cNvPr id="1" name=""/>
        <p:cNvGrpSpPr/>
        <p:nvPr/>
      </p:nvGrpSpPr>
      <p:grpSpPr>
        <a:xfrm>
          <a:off x="0" y="0"/>
          <a:ext cx="0" cy="0"/>
          <a:chOff x="0" y="0"/>
          <a:chExt cx="0" cy="0"/>
        </a:xfrm>
      </p:grpSpPr>
      <p:sp>
        <p:nvSpPr>
          <p:cNvPr id="2" name="Shape 0"/>
          <p:cNvSpPr/>
          <p:nvPr/>
        </p:nvSpPr>
        <p:spPr>
          <a:xfrm>
            <a:off x="812800" y="812800"/>
            <a:ext cx="457200" cy="457200"/>
          </a:xfrm>
          <a:prstGeom prst="roundRect">
            <a:avLst>
              <a:gd name="adj" fmla="val 16667"/>
            </a:avLst>
          </a:prstGeom>
          <a:solidFill>
            <a:srgbClr val="DE0029"/>
          </a:solidFill>
          <a:ln/>
        </p:spPr>
      </p:sp>
      <p:sp>
        <p:nvSpPr>
          <p:cNvPr id="3" name="Text 1"/>
          <p:cNvSpPr/>
          <p:nvPr/>
        </p:nvSpPr>
        <p:spPr>
          <a:xfrm>
            <a:off x="1422400" y="899120"/>
            <a:ext cx="1608177" cy="309860"/>
          </a:xfrm>
          <a:prstGeom prst="rect">
            <a:avLst/>
          </a:prstGeom>
          <a:noFill/>
          <a:ln/>
        </p:spPr>
        <p:txBody>
          <a:bodyPr wrap="square" lIns="0" tIns="0" rIns="0" bIns="0" rtlCol="0" anchor="t">
            <a:normAutofit/>
          </a:bodyPr>
          <a:lstStyle/>
          <a:p>
            <a:pPr algn="l" indent="0" marL="0">
              <a:lnSpc>
                <a:spcPts val="2240"/>
              </a:lnSpc>
              <a:buNone/>
            </a:pPr>
            <a:r>
              <a:rPr lang="en-US" sz="1600" b="1" spc="50" kern="0" dirty="0">
                <a:solidFill>
                  <a:srgbClr val="FBFAF8"/>
                </a:solidFill>
                <a:latin typeface="IBM Plex Sans" pitchFamily="34" charset="0"/>
                <a:ea typeface="IBM Plex Sans" pitchFamily="34" charset="-122"/>
                <a:cs typeface="IBM Plex Sans" pitchFamily="34" charset="-120"/>
              </a:rPr>
              <a:t>Cuna y Canas</a:t>
            </a:r>
            <a:endParaRPr lang="en-US" sz="1600" dirty="0"/>
          </a:p>
        </p:txBody>
      </p:sp>
      <p:sp>
        <p:nvSpPr>
          <p:cNvPr id="4" name="Text 2"/>
          <p:cNvSpPr/>
          <p:nvPr>
            <p:ph type="title"/>
          </p:nvPr>
        </p:nvSpPr>
        <p:spPr>
          <a:xfrm>
            <a:off x="812800" y="2286099"/>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BFAF8"/>
                </a:solidFill>
                <a:latin typeface="IBM Plex Sans" pitchFamily="34" charset="0"/>
                <a:ea typeface="IBM Plex Sans" pitchFamily="34" charset="-122"/>
                <a:cs typeface="IBM Plex Sans" pitchFamily="34" charset="-120"/>
              </a:rPr>
              <a:t>Llegan las familias.</a:t>
            </a:r>
            <a:endParaRPr lang="en-US" sz="6000" dirty="0"/>
          </a:p>
          <a:p>
            <a:pPr algn="l" indent="0" marL="0">
              <a:lnSpc>
                <a:spcPts val="6300"/>
              </a:lnSpc>
              <a:buNone/>
            </a:pPr>
            <a:r>
              <a:rPr lang="en-US" sz="6000" b="1" i="0" spc="-100" kern="0" dirty="0">
                <a:solidFill>
                  <a:srgbClr val="FF5470"/>
                </a:solidFill>
                <a:latin typeface="IBM Plex Sans" pitchFamily="34" charset="0"/>
                <a:ea typeface="IBM Plex Sans" pitchFamily="34" charset="-122"/>
                <a:cs typeface="IBM Plex Sans" pitchFamily="34" charset="-120"/>
              </a:rPr>
              <a:t>¿Llegarán los colegios?</a:t>
            </a:r>
            <a:endParaRPr lang="en-US" sz="6000" dirty="0"/>
          </a:p>
        </p:txBody>
      </p:sp>
      <p:sp>
        <p:nvSpPr>
          <p:cNvPr id="5" name="Text 3"/>
          <p:cNvSpPr/>
          <p:nvPr/>
        </p:nvSpPr>
        <p:spPr>
          <a:xfrm>
            <a:off x="812800" y="4089499"/>
            <a:ext cx="915670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C6C2"/>
                </a:solidFill>
                <a:latin typeface="IBM Plex Sans" pitchFamily="34" charset="0"/>
                <a:ea typeface="IBM Plex Sans" pitchFamily="34" charset="-122"/>
                <a:cs typeface="IBM Plex Sans" pitchFamily="34" charset="-120"/>
              </a:rPr>
              <a:t>Qué hace falta y qué viene en cada barrio de la Comunidad de Madrid, con datos abiertos.</a:t>
            </a:r>
            <a:endParaRPr lang="en-US" sz="22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A39D"/>
                </a:solidFill>
                <a:latin typeface="IBM Plex Sans" pitchFamily="34" charset="0"/>
                <a:ea typeface="IBM Plex Sans" pitchFamily="34" charset="-122"/>
                <a:cs typeface="IBM Plex Sans" pitchFamily="34" charset="-120"/>
              </a:rPr>
              <a:t>MAD Open Data Challenge 2026 · Final, 20 de octubre · Digitaliza Madrid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1464667"/>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ESCENA 1 · LA VECINA</a:t>
            </a:r>
            <a:endParaRPr lang="en-US" sz="1200" dirty="0"/>
          </a:p>
        </p:txBody>
      </p:sp>
      <p:sp>
        <p:nvSpPr>
          <p:cNvPr id="3" name="Text 1"/>
          <p:cNvSpPr/>
          <p:nvPr>
            <p:ph type="title"/>
          </p:nvPr>
        </p:nvSpPr>
        <p:spPr>
          <a:xfrm>
            <a:off x="812800" y="1855788"/>
            <a:ext cx="3139440" cy="1012825"/>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Laura busca dónde vivir</a:t>
            </a:r>
            <a:endParaRPr lang="en-US" sz="3600" dirty="0"/>
          </a:p>
        </p:txBody>
      </p:sp>
      <p:sp>
        <p:nvSpPr>
          <p:cNvPr id="4" name="Text 2"/>
          <p:cNvSpPr/>
          <p:nvPr/>
        </p:nvSpPr>
        <p:spPr>
          <a:xfrm>
            <a:off x="812800" y="3021013"/>
            <a:ext cx="313944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Tiene un bebé y trabaja en Madrid. Marca su situación y la web ordena los 179 municipios.</a:t>
            </a:r>
            <a:endParaRPr lang="en-US" sz="1600" dirty="0"/>
          </a:p>
        </p:txBody>
      </p:sp>
      <p:sp>
        <p:nvSpPr>
          <p:cNvPr id="5" name="Text 3"/>
          <p:cNvSpPr/>
          <p:nvPr/>
        </p:nvSpPr>
        <p:spPr>
          <a:xfrm>
            <a:off x="812800" y="4052193"/>
            <a:ext cx="3139440"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«Trabajo en Madrid» no premia vivir cerca, sino </a:t>
            </a:r>
            <a:r>
              <a:rPr lang="en-US" sz="1600" b="1" dirty="0">
                <a:solidFill>
                  <a:srgbClr val="4A4744"/>
                </a:solidFill>
                <a:latin typeface="IBM Plex Sans" pitchFamily="34" charset="0"/>
                <a:ea typeface="IBM Plex Sans" pitchFamily="34" charset="-122"/>
                <a:cs typeface="IBM Plex Sans" pitchFamily="34" charset="-120"/>
              </a:rPr>
              <a:t>llegar bien</a:t>
            </a:r>
            <a:r>
              <a:rPr lang="en-US" sz="1600" dirty="0">
                <a:solidFill>
                  <a:srgbClr val="4A4744"/>
                </a:solidFill>
                <a:latin typeface="IBM Plex Sans" pitchFamily="34" charset="0"/>
                <a:ea typeface="IBM Plex Sans" pitchFamily="34" charset="-122"/>
                <a:cs typeface="IBM Plex Sans" pitchFamily="34" charset="-120"/>
              </a:rPr>
              <a:t>: tren o Metro, autobuses directos y zona del abono.</a:t>
            </a:r>
            <a:endParaRPr lang="en-US" sz="1600" dirty="0"/>
          </a:p>
        </p:txBody>
      </p:sp>
      <p:sp>
        <p:nvSpPr>
          <p:cNvPr id="6" name="Shape 4"/>
          <p:cNvSpPr/>
          <p:nvPr/>
        </p:nvSpPr>
        <p:spPr>
          <a:xfrm>
            <a:off x="4267200" y="1327150"/>
            <a:ext cx="7112000" cy="4000500"/>
          </a:xfrm>
          <a:prstGeom prst="roundRect">
            <a:avLst>
              <a:gd name="adj" fmla="val 1905"/>
            </a:avLst>
          </a:prstGeom>
          <a:solidFill>
            <a:srgbClr val="ECE9E5"/>
          </a:solidFill>
          <a:ln/>
        </p:spPr>
      </p:sp>
      <p:pic>
        <p:nvPicPr>
          <p:cNvPr id="7" name="Image 0" descr="Pantalla ¿Dónde vivir? con el mapa de los 179 municipios coloreado según lo bien que encajan con una familia con bebé que trabaja en Madrid">    </p:cNvPr>
          <p:cNvPicPr>
            <a:picLocks noChangeAspect="1"/>
          </p:cNvPicPr>
          <p:nvPr/>
        </p:nvPicPr>
        <p:blipFill>
          <a:blip r:embed="rId1"/>
          <a:srcRect l="-70" r="-70" t="0" b="0"/>
          <a:stretch/>
        </p:blipFill>
        <p:spPr>
          <a:xfrm>
            <a:off x="4273550" y="1333500"/>
            <a:ext cx="7099300" cy="3987800"/>
          </a:xfrm>
          <a:prstGeom prst="roundRect">
            <a:avLst>
              <a:gd name="adj" fmla="val 1752"/>
            </a:avLst>
          </a:prstGeom>
        </p:spPr>
      </p:pic>
      <p:sp>
        <p:nvSpPr>
          <p:cNvPr id="8" name="Shape 5"/>
          <p:cNvSpPr/>
          <p:nvPr/>
        </p:nvSpPr>
        <p:spPr>
          <a:xfrm>
            <a:off x="4270375" y="1330325"/>
            <a:ext cx="7105650" cy="3994150"/>
          </a:xfrm>
          <a:prstGeom prst="roundRect">
            <a:avLst>
              <a:gd name="adj" fmla="val 1828"/>
            </a:avLst>
          </a:prstGeom>
          <a:noFill/>
          <a:ln w="6350">
            <a:solidFill>
              <a:srgbClr val="D9D5D0"/>
            </a:solidFill>
            <a:prstDash val="solid"/>
          </a:ln>
        </p:spPr>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Showcase · demo en directo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136009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ESCENA 1 · LA VECINA</a:t>
            </a:r>
            <a:endParaRPr lang="en-US" sz="1200" dirty="0"/>
          </a:p>
        </p:txBody>
      </p:sp>
      <p:sp>
        <p:nvSpPr>
          <p:cNvPr id="3" name="Text 1"/>
          <p:cNvSpPr/>
          <p:nvPr>
            <p:ph type="title"/>
          </p:nvPr>
        </p:nvSpPr>
        <p:spPr>
          <a:xfrm>
            <a:off x="812800" y="1751211"/>
            <a:ext cx="3139440" cy="1506538"/>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Compara y se lleva las fichas</a:t>
            </a:r>
            <a:endParaRPr lang="en-US" sz="3600" dirty="0"/>
          </a:p>
        </p:txBody>
      </p:sp>
      <p:sp>
        <p:nvSpPr>
          <p:cNvPr id="4" name="Text 2"/>
          <p:cNvSpPr/>
          <p:nvPr/>
        </p:nvSpPr>
        <p:spPr>
          <a:xfrm>
            <a:off x="812800" y="3410148"/>
            <a:ext cx="3139440"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Getafe frente a Navalcarnero. Y lo que no sale en ningún portal: Navalcarnero prevé </a:t>
            </a:r>
            <a:r>
              <a:rPr lang="en-US" sz="1600" b="1" dirty="0">
                <a:solidFill>
                  <a:srgbClr val="4A4744"/>
                </a:solidFill>
                <a:latin typeface="IBM Plex Sans" pitchFamily="34" charset="0"/>
                <a:ea typeface="IBM Plex Sans" pitchFamily="34" charset="-122"/>
                <a:cs typeface="IBM Plex Sans" pitchFamily="34" charset="-120"/>
              </a:rPr>
              <a:t>21.434 viviendas</a:t>
            </a:r>
            <a:r>
              <a:rPr lang="en-US" sz="1600" dirty="0">
                <a:solidFill>
                  <a:srgbClr val="4A4744"/>
                </a:solidFill>
                <a:latin typeface="IBM Plex Sans" pitchFamily="34" charset="0"/>
                <a:ea typeface="IBM Plex Sans" pitchFamily="34" charset="-122"/>
                <a:cs typeface="IBM Plex Sans" pitchFamily="34" charset="-120"/>
              </a:rPr>
              <a:t> para 33.352 habitantes.</a:t>
            </a:r>
            <a:endParaRPr lang="en-US" sz="1600" dirty="0"/>
          </a:p>
        </p:txBody>
      </p:sp>
      <p:sp>
        <p:nvSpPr>
          <p:cNvPr id="5" name="Text 3"/>
          <p:cNvSpPr/>
          <p:nvPr/>
        </p:nvSpPr>
        <p:spPr>
          <a:xfrm>
            <a:off x="812800" y="5010249"/>
            <a:ext cx="31394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Cada ficha se descarga en PDF.</a:t>
            </a:r>
            <a:endParaRPr lang="en-US" sz="1600" dirty="0"/>
          </a:p>
        </p:txBody>
      </p:sp>
      <p:sp>
        <p:nvSpPr>
          <p:cNvPr id="6" name="Shape 4"/>
          <p:cNvSpPr/>
          <p:nvPr/>
        </p:nvSpPr>
        <p:spPr>
          <a:xfrm>
            <a:off x="4267200" y="1327150"/>
            <a:ext cx="7112000" cy="4000500"/>
          </a:xfrm>
          <a:prstGeom prst="roundRect">
            <a:avLst>
              <a:gd name="adj" fmla="val 1905"/>
            </a:avLst>
          </a:prstGeom>
          <a:solidFill>
            <a:srgbClr val="ECE9E5"/>
          </a:solidFill>
          <a:ln/>
        </p:spPr>
      </p:sp>
      <p:pic>
        <p:nvPicPr>
          <p:cNvPr id="7" name="Image 0" descr="Ficha de Navalcarnero: coincidencia con lo que busca Laura, lo que hay hoy y lo que viene">    </p:cNvPr>
          <p:cNvPicPr>
            <a:picLocks noChangeAspect="1"/>
          </p:cNvPicPr>
          <p:nvPr/>
        </p:nvPicPr>
        <p:blipFill>
          <a:blip r:embed="rId1"/>
          <a:srcRect l="-70" r="-70" t="0" b="0"/>
          <a:stretch/>
        </p:blipFill>
        <p:spPr>
          <a:xfrm>
            <a:off x="4273550" y="1333500"/>
            <a:ext cx="7099300" cy="3987800"/>
          </a:xfrm>
          <a:prstGeom prst="roundRect">
            <a:avLst>
              <a:gd name="adj" fmla="val 1752"/>
            </a:avLst>
          </a:prstGeom>
        </p:spPr>
      </p:pic>
      <p:sp>
        <p:nvSpPr>
          <p:cNvPr id="8" name="Shape 5"/>
          <p:cNvSpPr/>
          <p:nvPr/>
        </p:nvSpPr>
        <p:spPr>
          <a:xfrm>
            <a:off x="4270375" y="1330325"/>
            <a:ext cx="7105650" cy="3994150"/>
          </a:xfrm>
          <a:prstGeom prst="roundRect">
            <a:avLst>
              <a:gd name="adj" fmla="val 1828"/>
            </a:avLst>
          </a:prstGeom>
          <a:noFill/>
          <a:ln w="6350">
            <a:solidFill>
              <a:srgbClr val="D9D5D0"/>
            </a:solidFill>
            <a:prstDash val="solid"/>
          </a:ln>
        </p:spPr>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Showcase · demo en directo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121781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ESCENA 1 · LA VECINA</a:t>
            </a:r>
            <a:endParaRPr lang="en-US" sz="1200" dirty="0"/>
          </a:p>
        </p:txBody>
      </p:sp>
      <p:sp>
        <p:nvSpPr>
          <p:cNvPr id="3" name="Text 1"/>
          <p:cNvSpPr/>
          <p:nvPr>
            <p:ph type="title"/>
          </p:nvPr>
        </p:nvSpPr>
        <p:spPr>
          <a:xfrm>
            <a:off x="812800" y="1608931"/>
            <a:ext cx="3139440" cy="1506538"/>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Mira su barrio, calle a calle</a:t>
            </a:r>
            <a:endParaRPr lang="en-US" sz="3600" dirty="0"/>
          </a:p>
        </p:txBody>
      </p:sp>
      <p:sp>
        <p:nvSpPr>
          <p:cNvPr id="4" name="Text 2"/>
          <p:cNvSpPr/>
          <p:nvPr/>
        </p:nvSpPr>
        <p:spPr>
          <a:xfrm>
            <a:off x="812800" y="3267869"/>
            <a:ext cx="3139440"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Los Molinos (Getafe): </a:t>
            </a:r>
            <a:r>
              <a:rPr lang="en-US" sz="1600" b="1" dirty="0">
                <a:solidFill>
                  <a:srgbClr val="4A4744"/>
                </a:solidFill>
                <a:latin typeface="IBM Plex Sans" pitchFamily="34" charset="0"/>
                <a:ea typeface="IBM Plex Sans" pitchFamily="34" charset="-122"/>
                <a:cs typeface="IBM Plex Sans" pitchFamily="34" charset="-120"/>
              </a:rPr>
              <a:t>11.473 vecinos</a:t>
            </a:r>
            <a:r>
              <a:rPr lang="en-US" sz="1600" dirty="0">
                <a:solidFill>
                  <a:srgbClr val="4A4744"/>
                </a:solidFill>
                <a:latin typeface="IBM Plex Sans" pitchFamily="34" charset="0"/>
                <a:ea typeface="IBM Plex Sans" pitchFamily="34" charset="-122"/>
                <a:cs typeface="IBM Plex Sans" pitchFamily="34" charset="-120"/>
              </a:rPr>
              <a:t> y ningún centro de salud ni escuela infantil pública a 10 minutos.</a:t>
            </a:r>
            <a:endParaRPr lang="en-US" sz="1600" dirty="0"/>
          </a:p>
        </p:txBody>
      </p:sp>
      <p:sp>
        <p:nvSpPr>
          <p:cNvPr id="5" name="Text 3"/>
          <p:cNvSpPr/>
          <p:nvPr/>
        </p:nvSpPr>
        <p:spPr>
          <a:xfrm>
            <a:off x="812800" y="4583509"/>
            <a:ext cx="313944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«¿Quién se asegura de que haya colegio cuando lleguemos todos?»</a:t>
            </a:r>
            <a:endParaRPr lang="en-US" sz="1600" dirty="0"/>
          </a:p>
        </p:txBody>
      </p:sp>
      <p:sp>
        <p:nvSpPr>
          <p:cNvPr id="6" name="Shape 4"/>
          <p:cNvSpPr/>
          <p:nvPr/>
        </p:nvSpPr>
        <p:spPr>
          <a:xfrm>
            <a:off x="4267200" y="1327150"/>
            <a:ext cx="7112000" cy="4000500"/>
          </a:xfrm>
          <a:prstGeom prst="roundRect">
            <a:avLst>
              <a:gd name="adj" fmla="val 1905"/>
            </a:avLst>
          </a:prstGeom>
          <a:solidFill>
            <a:srgbClr val="ECE9E5"/>
          </a:solidFill>
          <a:ln/>
        </p:spPr>
      </p:sp>
      <p:pic>
        <p:nvPicPr>
          <p:cNvPr id="7" name="Image 0" descr="Pantalla Barrios en Los Molinos: lo que hay a 10 minutos, su población y lo que hará falta cuando esté completo">    </p:cNvPr>
          <p:cNvPicPr>
            <a:picLocks noChangeAspect="1"/>
          </p:cNvPicPr>
          <p:nvPr/>
        </p:nvPicPr>
        <p:blipFill>
          <a:blip r:embed="rId1"/>
          <a:srcRect l="-70" r="-70" t="0" b="0"/>
          <a:stretch/>
        </p:blipFill>
        <p:spPr>
          <a:xfrm>
            <a:off x="4273550" y="1333500"/>
            <a:ext cx="7099300" cy="3987800"/>
          </a:xfrm>
          <a:prstGeom prst="roundRect">
            <a:avLst>
              <a:gd name="adj" fmla="val 1752"/>
            </a:avLst>
          </a:prstGeom>
        </p:spPr>
      </p:pic>
      <p:sp>
        <p:nvSpPr>
          <p:cNvPr id="8" name="Shape 5"/>
          <p:cNvSpPr/>
          <p:nvPr/>
        </p:nvSpPr>
        <p:spPr>
          <a:xfrm>
            <a:off x="4270375" y="1330325"/>
            <a:ext cx="7105650" cy="3994150"/>
          </a:xfrm>
          <a:prstGeom prst="roundRect">
            <a:avLst>
              <a:gd name="adj" fmla="val 1828"/>
            </a:avLst>
          </a:prstGeom>
          <a:noFill/>
          <a:ln w="6350">
            <a:solidFill>
              <a:srgbClr val="D9D5D0"/>
            </a:solidFill>
            <a:prstDash val="solid"/>
          </a:ln>
        </p:spPr>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Showcase · demo en directo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FEC"/>
        </a:solidFill>
      </p:bgPr>
    </p:bg>
    <p:spTree>
      <p:nvGrpSpPr>
        <p:cNvPr id="1" name=""/>
        <p:cNvGrpSpPr/>
        <p:nvPr/>
      </p:nvGrpSpPr>
      <p:grpSpPr>
        <a:xfrm>
          <a:off x="0" y="0"/>
          <a:ext cx="0" cy="0"/>
          <a:chOff x="0" y="0"/>
          <a:chExt cx="0" cy="0"/>
        </a:xfrm>
      </p:grpSpPr>
      <p:sp>
        <p:nvSpPr>
          <p:cNvPr id="2" name="Text 0"/>
          <p:cNvSpPr/>
          <p:nvPr/>
        </p:nvSpPr>
        <p:spPr>
          <a:xfrm>
            <a:off x="812800" y="1255415"/>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ESCENA 2 · LA TÉCNICA</a:t>
            </a:r>
            <a:endParaRPr lang="en-US" sz="1200" dirty="0"/>
          </a:p>
        </p:txBody>
      </p:sp>
      <p:sp>
        <p:nvSpPr>
          <p:cNvPr id="3" name="Text 1"/>
          <p:cNvSpPr/>
          <p:nvPr>
            <p:ph type="title"/>
          </p:nvPr>
        </p:nvSpPr>
        <p:spPr>
          <a:xfrm>
            <a:off x="812800" y="1646535"/>
            <a:ext cx="3139440" cy="2000250"/>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Carmen planifica antes de que lleguen</a:t>
            </a:r>
            <a:endParaRPr lang="en-US" sz="3600" dirty="0"/>
          </a:p>
        </p:txBody>
      </p:sp>
      <p:sp>
        <p:nvSpPr>
          <p:cNvPr id="4" name="Text 2"/>
          <p:cNvSpPr/>
          <p:nvPr/>
        </p:nvSpPr>
        <p:spPr>
          <a:xfrm>
            <a:off x="812800" y="3799185"/>
            <a:ext cx="3139440" cy="8787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4744"/>
                </a:solidFill>
                <a:latin typeface="IBM Plex Sans" pitchFamily="34" charset="0"/>
                <a:ea typeface="IBM Plex Sans" pitchFamily="34" charset="-122"/>
                <a:cs typeface="IBM Plex Sans" pitchFamily="34" charset="-120"/>
              </a:rPr>
              <a:t>Cuándo</a:t>
            </a:r>
            <a:r>
              <a:rPr lang="en-US" sz="1600" dirty="0">
                <a:solidFill>
                  <a:srgbClr val="4A4744"/>
                </a:solidFill>
                <a:latin typeface="IBM Plex Sans" pitchFamily="34" charset="0"/>
                <a:ea typeface="IBM Plex Sans" pitchFamily="34" charset="-122"/>
                <a:cs typeface="IBM Plex Sans" pitchFamily="34" charset="-120"/>
              </a:rPr>
              <a:t> hace falta cada colegio, </a:t>
            </a:r>
            <a:r>
              <a:rPr lang="en-US" sz="1600" b="1" dirty="0">
                <a:solidFill>
                  <a:srgbClr val="4A4744"/>
                </a:solidFill>
                <a:latin typeface="IBM Plex Sans" pitchFamily="34" charset="0"/>
                <a:ea typeface="IBM Plex Sans" pitchFamily="34" charset="-122"/>
                <a:cs typeface="IBM Plex Sans" pitchFamily="34" charset="-120"/>
              </a:rPr>
              <a:t>dónde</a:t>
            </a:r>
            <a:r>
              <a:rPr lang="en-US" sz="1600" dirty="0">
                <a:solidFill>
                  <a:srgbClr val="4A4744"/>
                </a:solidFill>
                <a:latin typeface="IBM Plex Sans" pitchFamily="34" charset="0"/>
                <a:ea typeface="IBM Plex Sans" pitchFamily="34" charset="-122"/>
                <a:cs typeface="IBM Plex Sans" pitchFamily="34" charset="-120"/>
              </a:rPr>
              <a:t> ponerlo y </a:t>
            </a:r>
            <a:r>
              <a:rPr lang="en-US" sz="1600" b="1" dirty="0">
                <a:solidFill>
                  <a:srgbClr val="4A4744"/>
                </a:solidFill>
                <a:latin typeface="IBM Plex Sans" pitchFamily="34" charset="0"/>
                <a:ea typeface="IBM Plex Sans" pitchFamily="34" charset="-122"/>
                <a:cs typeface="IBM Plex Sans" pitchFamily="34" charset="-120"/>
              </a:rPr>
              <a:t>si aguanta</a:t>
            </a:r>
            <a:r>
              <a:rPr lang="en-US" sz="1600" dirty="0">
                <a:solidFill>
                  <a:srgbClr val="4A4744"/>
                </a:solidFill>
                <a:latin typeface="IBM Plex Sans" pitchFamily="34" charset="0"/>
                <a:ea typeface="IBM Plex Sans" pitchFamily="34" charset="-122"/>
                <a:cs typeface="IBM Plex Sans" pitchFamily="34" charset="-120"/>
              </a:rPr>
              <a:t> con otros supuestos.</a:t>
            </a:r>
            <a:endParaRPr lang="en-US" sz="1600" dirty="0"/>
          </a:p>
        </p:txBody>
      </p:sp>
      <p:sp>
        <p:nvSpPr>
          <p:cNvPr id="5" name="Text 3"/>
          <p:cNvSpPr/>
          <p:nvPr/>
        </p:nvSpPr>
        <p:spPr>
          <a:xfrm>
            <a:off x="812800" y="4830366"/>
            <a:ext cx="313944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Quita o añade centros y ve el efecto al momento.</a:t>
            </a:r>
            <a:endParaRPr lang="en-US" sz="1600" dirty="0"/>
          </a:p>
        </p:txBody>
      </p:sp>
      <p:sp>
        <p:nvSpPr>
          <p:cNvPr id="6" name="Shape 4"/>
          <p:cNvSpPr/>
          <p:nvPr/>
        </p:nvSpPr>
        <p:spPr>
          <a:xfrm>
            <a:off x="4267200" y="1327150"/>
            <a:ext cx="7112000" cy="4000500"/>
          </a:xfrm>
          <a:prstGeom prst="roundRect">
            <a:avLst>
              <a:gd name="adj" fmla="val 1905"/>
            </a:avLst>
          </a:prstGeom>
          <a:solidFill>
            <a:srgbClr val="E2DEDA"/>
          </a:solidFill>
          <a:ln/>
        </p:spPr>
      </p:sp>
      <p:pic>
        <p:nvPicPr>
          <p:cNvPr id="7" name="Image 0" descr="Pantalla Planificar en Navalcarnero: 6 colegios nuevos, cuándo hace falta cada uno y dónde, sobre parcelas vacantes">    </p:cNvPr>
          <p:cNvPicPr>
            <a:picLocks noChangeAspect="1"/>
          </p:cNvPicPr>
          <p:nvPr/>
        </p:nvPicPr>
        <p:blipFill>
          <a:blip r:embed="rId1"/>
          <a:srcRect l="-70" r="-70" t="0" b="0"/>
          <a:stretch/>
        </p:blipFill>
        <p:spPr>
          <a:xfrm>
            <a:off x="4273550" y="1333500"/>
            <a:ext cx="7099300" cy="3987800"/>
          </a:xfrm>
          <a:prstGeom prst="roundRect">
            <a:avLst>
              <a:gd name="adj" fmla="val 1752"/>
            </a:avLst>
          </a:prstGeom>
        </p:spPr>
      </p:pic>
      <p:sp>
        <p:nvSpPr>
          <p:cNvPr id="8" name="Shape 5"/>
          <p:cNvSpPr/>
          <p:nvPr/>
        </p:nvSpPr>
        <p:spPr>
          <a:xfrm>
            <a:off x="4270375" y="1330325"/>
            <a:ext cx="7105650" cy="3994150"/>
          </a:xfrm>
          <a:prstGeom prst="roundRect">
            <a:avLst>
              <a:gd name="adj" fmla="val 1828"/>
            </a:avLst>
          </a:prstGeom>
          <a:noFill/>
          <a:ln w="6350">
            <a:solidFill>
              <a:srgbClr val="D9D5D0"/>
            </a:solidFill>
            <a:prstDash val="solid"/>
          </a:ln>
        </p:spPr>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Showcase · demo en directo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EL PROBLEMA</a:t>
            </a:r>
            <a:endParaRPr lang="en-US" sz="1200" dirty="0"/>
          </a:p>
        </p:txBody>
      </p:sp>
      <p:sp>
        <p:nvSpPr>
          <p:cNvPr id="3" name="Text 1"/>
          <p:cNvSpPr/>
          <p:nvPr>
            <p:ph type="title"/>
          </p:nvPr>
        </p:nvSpPr>
        <p:spPr>
          <a:xfrm>
            <a:off x="812800" y="1127720"/>
            <a:ext cx="10883392" cy="1012825"/>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Lo que ya prevé el planeamiento de la Comunidad</a:t>
            </a:r>
            <a:endParaRPr lang="en-US" sz="3600" dirty="0"/>
          </a:p>
        </p:txBody>
      </p:sp>
      <p:sp>
        <p:nvSpPr>
          <p:cNvPr id="4" name="Shape 2"/>
          <p:cNvSpPr/>
          <p:nvPr/>
        </p:nvSpPr>
        <p:spPr>
          <a:xfrm>
            <a:off x="812800" y="2489795"/>
            <a:ext cx="5283200" cy="0"/>
          </a:xfrm>
          <a:prstGeom prst="line">
            <a:avLst/>
          </a:prstGeom>
          <a:noFill/>
          <a:ln w="38100">
            <a:solidFill>
              <a:srgbClr val="131313"/>
            </a:solidFill>
            <a:prstDash val="solid"/>
          </a:ln>
        </p:spPr>
      </p:sp>
      <p:sp>
        <p:nvSpPr>
          <p:cNvPr id="5" name="Text 3"/>
          <p:cNvSpPr/>
          <p:nvPr/>
        </p:nvSpPr>
        <p:spPr>
          <a:xfrm>
            <a:off x="812800" y="2712045"/>
            <a:ext cx="544169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31313"/>
                </a:solidFill>
                <a:latin typeface="IBM Plex Sans" pitchFamily="34" charset="0"/>
                <a:ea typeface="IBM Plex Sans" pitchFamily="34" charset="-122"/>
                <a:cs typeface="IBM Plex Sans" pitchFamily="34" charset="-120"/>
              </a:rPr>
              <a:t>513.487</a:t>
            </a:r>
            <a:endParaRPr lang="en-US" sz="3600" dirty="0"/>
          </a:p>
        </p:txBody>
      </p:sp>
      <p:sp>
        <p:nvSpPr>
          <p:cNvPr id="6" name="Text 4"/>
          <p:cNvSpPr/>
          <p:nvPr/>
        </p:nvSpPr>
        <p:spPr>
          <a:xfrm>
            <a:off x="812800" y="3270845"/>
            <a:ext cx="544169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744"/>
                </a:solidFill>
                <a:latin typeface="IBM Plex Sans" pitchFamily="34" charset="0"/>
                <a:ea typeface="IBM Plex Sans" pitchFamily="34" charset="-122"/>
                <a:cs typeface="IBM Plex Sans" pitchFamily="34" charset="-120"/>
              </a:rPr>
              <a:t>viviendas nuevas previstas en 144 municipios</a:t>
            </a:r>
            <a:endParaRPr lang="en-US" sz="1600" dirty="0"/>
          </a:p>
        </p:txBody>
      </p:sp>
      <p:sp>
        <p:nvSpPr>
          <p:cNvPr id="7" name="Shape 5"/>
          <p:cNvSpPr/>
          <p:nvPr/>
        </p:nvSpPr>
        <p:spPr>
          <a:xfrm>
            <a:off x="6096000" y="2489795"/>
            <a:ext cx="5283200" cy="0"/>
          </a:xfrm>
          <a:prstGeom prst="line">
            <a:avLst/>
          </a:prstGeom>
          <a:noFill/>
          <a:ln w="38100">
            <a:solidFill>
              <a:srgbClr val="131313"/>
            </a:solidFill>
            <a:prstDash val="solid"/>
          </a:ln>
        </p:spPr>
      </p:sp>
      <p:sp>
        <p:nvSpPr>
          <p:cNvPr id="8" name="Text 6"/>
          <p:cNvSpPr/>
          <p:nvPr/>
        </p:nvSpPr>
        <p:spPr>
          <a:xfrm>
            <a:off x="6096000" y="2712045"/>
            <a:ext cx="544169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31313"/>
                </a:solidFill>
                <a:latin typeface="IBM Plex Sans" pitchFamily="34" charset="0"/>
                <a:ea typeface="IBM Plex Sans" pitchFamily="34" charset="-122"/>
                <a:cs typeface="IBM Plex Sans" pitchFamily="34" charset="-120"/>
              </a:rPr>
              <a:t>0,76–1,12 M</a:t>
            </a:r>
            <a:endParaRPr lang="en-US" sz="3600" dirty="0"/>
          </a:p>
        </p:txBody>
      </p:sp>
      <p:sp>
        <p:nvSpPr>
          <p:cNvPr id="9" name="Text 7"/>
          <p:cNvSpPr/>
          <p:nvPr/>
        </p:nvSpPr>
        <p:spPr>
          <a:xfrm>
            <a:off x="6096000" y="3270845"/>
            <a:ext cx="544169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744"/>
                </a:solidFill>
                <a:latin typeface="IBM Plex Sans" pitchFamily="34" charset="0"/>
                <a:ea typeface="IBM Plex Sans" pitchFamily="34" charset="-122"/>
                <a:cs typeface="IBM Plex Sans" pitchFamily="34" charset="-120"/>
              </a:rPr>
              <a:t>personas que pueden llegar</a:t>
            </a:r>
            <a:endParaRPr lang="en-US" sz="1600" dirty="0"/>
          </a:p>
        </p:txBody>
      </p:sp>
      <p:sp>
        <p:nvSpPr>
          <p:cNvPr id="10" name="Shape 8"/>
          <p:cNvSpPr/>
          <p:nvPr/>
        </p:nvSpPr>
        <p:spPr>
          <a:xfrm>
            <a:off x="812800" y="3564136"/>
            <a:ext cx="5283200" cy="0"/>
          </a:xfrm>
          <a:prstGeom prst="line">
            <a:avLst/>
          </a:prstGeom>
          <a:noFill/>
          <a:ln w="38100">
            <a:solidFill>
              <a:srgbClr val="C20024"/>
            </a:solidFill>
            <a:prstDash val="solid"/>
          </a:ln>
        </p:spPr>
      </p:sp>
      <p:sp>
        <p:nvSpPr>
          <p:cNvPr id="11" name="Text 9"/>
          <p:cNvSpPr/>
          <p:nvPr/>
        </p:nvSpPr>
        <p:spPr>
          <a:xfrm>
            <a:off x="812800" y="3786386"/>
            <a:ext cx="544169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C20024"/>
                </a:solidFill>
                <a:latin typeface="IBM Plex Sans" pitchFamily="34" charset="0"/>
                <a:ea typeface="IBM Plex Sans" pitchFamily="34" charset="-122"/>
                <a:cs typeface="IBM Plex Sans" pitchFamily="34" charset="-120"/>
              </a:rPr>
              <a:t>78–154 mil</a:t>
            </a:r>
            <a:endParaRPr lang="en-US" sz="3600" dirty="0"/>
          </a:p>
        </p:txBody>
      </p:sp>
      <p:sp>
        <p:nvSpPr>
          <p:cNvPr id="12" name="Text 10"/>
          <p:cNvSpPr/>
          <p:nvPr/>
        </p:nvSpPr>
        <p:spPr>
          <a:xfrm>
            <a:off x="812800" y="4345186"/>
            <a:ext cx="544169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744"/>
                </a:solidFill>
                <a:latin typeface="IBM Plex Sans" pitchFamily="34" charset="0"/>
                <a:ea typeface="IBM Plex Sans" pitchFamily="34" charset="-122"/>
                <a:cs typeface="IBM Plex Sans" pitchFamily="34" charset="-120"/>
              </a:rPr>
              <a:t>plazas de colegio que harán falta</a:t>
            </a:r>
            <a:endParaRPr lang="en-US" sz="1600" dirty="0"/>
          </a:p>
        </p:txBody>
      </p:sp>
      <p:sp>
        <p:nvSpPr>
          <p:cNvPr id="13" name="Shape 11"/>
          <p:cNvSpPr/>
          <p:nvPr/>
        </p:nvSpPr>
        <p:spPr>
          <a:xfrm>
            <a:off x="6096000" y="3564136"/>
            <a:ext cx="5283200" cy="0"/>
          </a:xfrm>
          <a:prstGeom prst="line">
            <a:avLst/>
          </a:prstGeom>
          <a:noFill/>
          <a:ln w="38100">
            <a:solidFill>
              <a:srgbClr val="C20024"/>
            </a:solidFill>
            <a:prstDash val="solid"/>
          </a:ln>
        </p:spPr>
      </p:sp>
      <p:sp>
        <p:nvSpPr>
          <p:cNvPr id="14" name="Text 12"/>
          <p:cNvSpPr/>
          <p:nvPr/>
        </p:nvSpPr>
        <p:spPr>
          <a:xfrm>
            <a:off x="6096000" y="3786386"/>
            <a:ext cx="544169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C20024"/>
                </a:solidFill>
                <a:latin typeface="IBM Plex Sans" pitchFamily="34" charset="0"/>
                <a:ea typeface="IBM Plex Sans" pitchFamily="34" charset="-122"/>
                <a:cs typeface="IBM Plex Sans" pitchFamily="34" charset="-120"/>
              </a:rPr>
              <a:t>31–45</a:t>
            </a:r>
            <a:endParaRPr lang="en-US" sz="3600" dirty="0"/>
          </a:p>
        </p:txBody>
      </p:sp>
      <p:sp>
        <p:nvSpPr>
          <p:cNvPr id="15" name="Text 13"/>
          <p:cNvSpPr/>
          <p:nvPr/>
        </p:nvSpPr>
        <p:spPr>
          <a:xfrm>
            <a:off x="6096000" y="4345186"/>
            <a:ext cx="544169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4744"/>
                </a:solidFill>
                <a:latin typeface="IBM Plex Sans" pitchFamily="34" charset="0"/>
                <a:ea typeface="IBM Plex Sans" pitchFamily="34" charset="-122"/>
                <a:cs typeface="IBM Plex Sans" pitchFamily="34" charset="-120"/>
              </a:rPr>
              <a:t>centros de salud equivalentes</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Fuera de Madrid capital. Planeamiento refundido 2025 (IDEM) y modelo calibrado con barrios nuevos de Getafe (INE). Siempre en rango.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B8001F"/>
        </a:solidFill>
      </p:bgPr>
    </p:bg>
    <p:spTree>
      <p:nvGrpSpPr>
        <p:cNvPr id="1" name=""/>
        <p:cNvGrpSpPr/>
        <p:nvPr/>
      </p:nvGrpSpPr>
      <p:grpSpPr>
        <a:xfrm>
          <a:off x="0" y="0"/>
          <a:ext cx="0" cy="0"/>
          <a:chOff x="0" y="0"/>
          <a:chExt cx="0" cy="0"/>
        </a:xfrm>
      </p:grpSpPr>
      <p:sp>
        <p:nvSpPr>
          <p:cNvPr id="2" name="Text 0"/>
          <p:cNvSpPr/>
          <p:nvPr/>
        </p:nvSpPr>
        <p:spPr>
          <a:xfrm>
            <a:off x="812800" y="14186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FFD6DC"/>
                </a:solidFill>
                <a:latin typeface="IBM Plex Sans" pitchFamily="34" charset="0"/>
                <a:ea typeface="IBM Plex Sans" pitchFamily="34" charset="-122"/>
                <a:cs typeface="IBM Plex Sans" pitchFamily="34" charset="-120"/>
              </a:rPr>
              <a:t>LOS MOLINOS, GETAFE</a:t>
            </a:r>
            <a:endParaRPr lang="en-US" sz="1600" dirty="0"/>
          </a:p>
        </p:txBody>
      </p:sp>
      <p:sp>
        <p:nvSpPr>
          <p:cNvPr id="3" name="Text 1"/>
          <p:cNvSpPr/>
          <p:nvPr>
            <p:ph type="title"/>
          </p:nvPr>
        </p:nvSpPr>
        <p:spPr>
          <a:xfrm>
            <a:off x="812800" y="2007890"/>
            <a:ext cx="10883392" cy="24257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BFAF8"/>
                </a:solidFill>
                <a:latin typeface="IBM Plex Sans" pitchFamily="34" charset="0"/>
                <a:ea typeface="IBM Plex Sans" pitchFamily="34" charset="-122"/>
                <a:cs typeface="IBM Plex Sans" pitchFamily="34" charset="-120"/>
              </a:rPr>
              <a:t>11.473 vecinos.</a:t>
            </a:r>
            <a:endParaRPr lang="en-US" sz="6000" dirty="0"/>
          </a:p>
          <a:p>
            <a:pPr algn="l" indent="0" marL="0">
              <a:lnSpc>
                <a:spcPts val="6300"/>
              </a:lnSpc>
              <a:buNone/>
            </a:pPr>
            <a:r>
              <a:rPr lang="en-US" sz="6000" b="1" i="0" spc="-100" kern="0" dirty="0">
                <a:solidFill>
                  <a:srgbClr val="FBFAF8"/>
                </a:solidFill>
                <a:latin typeface="IBM Plex Sans" pitchFamily="34" charset="0"/>
                <a:ea typeface="IBM Plex Sans" pitchFamily="34" charset="-122"/>
                <a:cs typeface="IBM Plex Sans" pitchFamily="34" charset="-120"/>
              </a:rPr>
              <a:t>Ningún centro de salud a 10 minutos.</a:t>
            </a:r>
            <a:endParaRPr lang="en-US" sz="6000" dirty="0"/>
          </a:p>
        </p:txBody>
      </p:sp>
      <p:sp>
        <p:nvSpPr>
          <p:cNvPr id="4" name="Text 2"/>
          <p:cNvSpPr/>
          <p:nvPr/>
        </p:nvSpPr>
        <p:spPr>
          <a:xfrm>
            <a:off x="812800" y="4712990"/>
            <a:ext cx="98107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FE3E7"/>
                </a:solidFill>
                <a:latin typeface="IBM Plex Sans" pitchFamily="34" charset="0"/>
                <a:ea typeface="IBM Plex Sans" pitchFamily="34" charset="-122"/>
                <a:cs typeface="IBM Plex Sans" pitchFamily="34" charset="-120"/>
              </a:rPr>
              <a:t>No es mala suerte. Es lo de siempre: llegan las familias antes que los servicios.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QUÉ ES CUNA Y CANAS</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Una herramienta, tres preguntas</a:t>
            </a:r>
            <a:endParaRPr lang="en-US" sz="3600" dirty="0"/>
          </a:p>
        </p:txBody>
      </p:sp>
      <p:sp>
        <p:nvSpPr>
          <p:cNvPr id="4" name="Shape 2"/>
          <p:cNvSpPr/>
          <p:nvPr/>
        </p:nvSpPr>
        <p:spPr>
          <a:xfrm>
            <a:off x="815975" y="1980208"/>
            <a:ext cx="3384550" cy="2389981"/>
          </a:xfrm>
          <a:prstGeom prst="roundRect">
            <a:avLst>
              <a:gd name="adj" fmla="val 4118"/>
            </a:avLst>
          </a:prstGeom>
          <a:solidFill>
            <a:srgbClr val="FFFFFF"/>
          </a:solidFill>
          <a:ln w="6350">
            <a:solidFill>
              <a:srgbClr val="DED9D3"/>
            </a:solidFill>
            <a:prstDash val="solid"/>
          </a:ln>
        </p:spPr>
      </p:sp>
      <p:sp>
        <p:nvSpPr>
          <p:cNvPr id="5" name="Text 3"/>
          <p:cNvSpPr/>
          <p:nvPr/>
        </p:nvSpPr>
        <p:spPr>
          <a:xfrm>
            <a:off x="1073150" y="2237383"/>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7716B"/>
                </a:solidFill>
                <a:latin typeface="IBM Plex Sans" pitchFamily="34" charset="0"/>
                <a:ea typeface="IBM Plex Sans" pitchFamily="34" charset="-122"/>
                <a:cs typeface="IBM Plex Sans" pitchFamily="34" charset="-120"/>
              </a:rPr>
              <a:t>Para quien busca casa</a:t>
            </a:r>
            <a:endParaRPr lang="en-US" sz="1200" dirty="0"/>
          </a:p>
        </p:txBody>
      </p:sp>
      <p:sp>
        <p:nvSpPr>
          <p:cNvPr id="6" name="Text 4"/>
          <p:cNvSpPr/>
          <p:nvPr/>
        </p:nvSpPr>
        <p:spPr>
          <a:xfrm>
            <a:off x="1073150" y="2552303"/>
            <a:ext cx="295630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31313"/>
                </a:solidFill>
                <a:latin typeface="IBM Plex Sans" pitchFamily="34" charset="0"/>
                <a:ea typeface="IBM Plex Sans" pitchFamily="34" charset="-122"/>
                <a:cs typeface="IBM Plex Sans" pitchFamily="34" charset="-120"/>
              </a:rPr>
              <a:t>¿Dónde vivir?</a:t>
            </a:r>
            <a:endParaRPr lang="en-US" sz="2200" dirty="0"/>
          </a:p>
        </p:txBody>
      </p:sp>
      <p:sp>
        <p:nvSpPr>
          <p:cNvPr id="7" name="Text 5"/>
          <p:cNvSpPr/>
          <p:nvPr/>
        </p:nvSpPr>
        <p:spPr>
          <a:xfrm>
            <a:off x="1073150" y="2975173"/>
            <a:ext cx="295630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Los 179 municipios ordenados según tu vida: bebé, hijos, mayores, trabajo en Madrid, tranquilidad.</a:t>
            </a:r>
            <a:endParaRPr lang="en-US" sz="1600" dirty="0"/>
          </a:p>
        </p:txBody>
      </p:sp>
      <p:sp>
        <p:nvSpPr>
          <p:cNvPr id="8" name="Shape 6"/>
          <p:cNvSpPr/>
          <p:nvPr/>
        </p:nvSpPr>
        <p:spPr>
          <a:xfrm>
            <a:off x="4410075" y="1980208"/>
            <a:ext cx="3384550" cy="2389981"/>
          </a:xfrm>
          <a:prstGeom prst="roundRect">
            <a:avLst>
              <a:gd name="adj" fmla="val 4118"/>
            </a:avLst>
          </a:prstGeom>
          <a:solidFill>
            <a:srgbClr val="FFFFFF"/>
          </a:solidFill>
          <a:ln w="6350">
            <a:solidFill>
              <a:srgbClr val="DED9D3"/>
            </a:solidFill>
            <a:prstDash val="solid"/>
          </a:ln>
        </p:spPr>
      </p:sp>
      <p:sp>
        <p:nvSpPr>
          <p:cNvPr id="9" name="Text 7"/>
          <p:cNvSpPr/>
          <p:nvPr/>
        </p:nvSpPr>
        <p:spPr>
          <a:xfrm>
            <a:off x="4667250" y="2237383"/>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7716B"/>
                </a:solidFill>
                <a:latin typeface="IBM Plex Sans" pitchFamily="34" charset="0"/>
                <a:ea typeface="IBM Plex Sans" pitchFamily="34" charset="-122"/>
                <a:cs typeface="IBM Plex Sans" pitchFamily="34" charset="-120"/>
              </a:rPr>
              <a:t>Para quien busca casa</a:t>
            </a:r>
            <a:endParaRPr lang="en-US" sz="1200" dirty="0"/>
          </a:p>
        </p:txBody>
      </p:sp>
      <p:sp>
        <p:nvSpPr>
          <p:cNvPr id="10" name="Text 8"/>
          <p:cNvSpPr/>
          <p:nvPr/>
        </p:nvSpPr>
        <p:spPr>
          <a:xfrm>
            <a:off x="4667250" y="2552303"/>
            <a:ext cx="295630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31313"/>
                </a:solidFill>
                <a:latin typeface="IBM Plex Sans" pitchFamily="34" charset="0"/>
                <a:ea typeface="IBM Plex Sans" pitchFamily="34" charset="-122"/>
                <a:cs typeface="IBM Plex Sans" pitchFamily="34" charset="-120"/>
              </a:rPr>
              <a:t>Barrios</a:t>
            </a:r>
            <a:endParaRPr lang="en-US" sz="2200" dirty="0"/>
          </a:p>
        </p:txBody>
      </p:sp>
      <p:sp>
        <p:nvSpPr>
          <p:cNvPr id="11" name="Text 9"/>
          <p:cNvSpPr/>
          <p:nvPr/>
        </p:nvSpPr>
        <p:spPr>
          <a:xfrm>
            <a:off x="4667250" y="2975173"/>
            <a:ext cx="2956306"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Qué hay a 10 minutos de cualquier calle, qué se va a construir y qué servicios harán falta.</a:t>
            </a:r>
            <a:endParaRPr lang="en-US" sz="1600" dirty="0"/>
          </a:p>
        </p:txBody>
      </p:sp>
      <p:sp>
        <p:nvSpPr>
          <p:cNvPr id="12" name="Shape 10"/>
          <p:cNvSpPr/>
          <p:nvPr/>
        </p:nvSpPr>
        <p:spPr>
          <a:xfrm>
            <a:off x="8001000" y="1977033"/>
            <a:ext cx="3378200" cy="2396331"/>
          </a:xfrm>
          <a:prstGeom prst="roundRect">
            <a:avLst>
              <a:gd name="adj" fmla="val 4240"/>
            </a:avLst>
          </a:prstGeom>
          <a:solidFill>
            <a:srgbClr val="131313"/>
          </a:solidFill>
          <a:ln/>
        </p:spPr>
      </p:sp>
      <p:sp>
        <p:nvSpPr>
          <p:cNvPr id="13" name="Text 11"/>
          <p:cNvSpPr/>
          <p:nvPr/>
        </p:nvSpPr>
        <p:spPr>
          <a:xfrm>
            <a:off x="8255000" y="2231033"/>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094"/>
                </a:solidFill>
                <a:latin typeface="IBM Plex Sans" pitchFamily="34" charset="0"/>
                <a:ea typeface="IBM Plex Sans" pitchFamily="34" charset="-122"/>
                <a:cs typeface="IBM Plex Sans" pitchFamily="34" charset="-120"/>
              </a:rPr>
              <a:t>Para la Administración</a:t>
            </a:r>
            <a:endParaRPr lang="en-US" sz="1200" dirty="0"/>
          </a:p>
        </p:txBody>
      </p:sp>
      <p:sp>
        <p:nvSpPr>
          <p:cNvPr id="14" name="Text 12"/>
          <p:cNvSpPr/>
          <p:nvPr/>
        </p:nvSpPr>
        <p:spPr>
          <a:xfrm>
            <a:off x="8255000" y="2545953"/>
            <a:ext cx="295630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BFAF8"/>
                </a:solidFill>
                <a:latin typeface="IBM Plex Sans" pitchFamily="34" charset="0"/>
                <a:ea typeface="IBM Plex Sans" pitchFamily="34" charset="-122"/>
                <a:cs typeface="IBM Plex Sans" pitchFamily="34" charset="-120"/>
              </a:rPr>
              <a:t>Planificar</a:t>
            </a:r>
            <a:endParaRPr lang="en-US" sz="2200" dirty="0"/>
          </a:p>
        </p:txBody>
      </p:sp>
      <p:sp>
        <p:nvSpPr>
          <p:cNvPr id="15" name="Text 13"/>
          <p:cNvSpPr/>
          <p:nvPr/>
        </p:nvSpPr>
        <p:spPr>
          <a:xfrm>
            <a:off x="8255000" y="2968823"/>
            <a:ext cx="295630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D2CD"/>
                </a:solidFill>
                <a:latin typeface="IBM Plex Sans" pitchFamily="34" charset="0"/>
                <a:ea typeface="IBM Plex Sans" pitchFamily="34" charset="-122"/>
                <a:cs typeface="IBM Plex Sans" pitchFamily="34" charset="-120"/>
              </a:rPr>
              <a:t>Cuántos centros harán falta, cuándo, dónde ponerlos y si la propuesta aguanta.</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De la cuna a las canas: escuelas infantiles, colegios, centros de salud, centros de día y residencias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F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QUÉ ES CUNA Y CANAS</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Un mismo dato, dos lecturas</a:t>
            </a:r>
            <a:endParaRPr lang="en-US" sz="3600" dirty="0"/>
          </a:p>
        </p:txBody>
      </p:sp>
      <p:sp>
        <p:nvSpPr>
          <p:cNvPr id="4" name="Shape 2"/>
          <p:cNvSpPr/>
          <p:nvPr/>
        </p:nvSpPr>
        <p:spPr>
          <a:xfrm>
            <a:off x="831850" y="1977033"/>
            <a:ext cx="0" cy="2227263"/>
          </a:xfrm>
          <a:prstGeom prst="line">
            <a:avLst/>
          </a:prstGeom>
          <a:noFill/>
          <a:ln w="38100">
            <a:solidFill>
              <a:srgbClr val="131313"/>
            </a:solidFill>
            <a:prstDash val="solid"/>
          </a:ln>
        </p:spPr>
      </p:sp>
      <p:sp>
        <p:nvSpPr>
          <p:cNvPr id="5" name="Text 3"/>
          <p:cNvSpPr/>
          <p:nvPr/>
        </p:nvSpPr>
        <p:spPr>
          <a:xfrm>
            <a:off x="1104900" y="2027833"/>
            <a:ext cx="498386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7716B"/>
                </a:solidFill>
                <a:latin typeface="IBM Plex Sans" pitchFamily="34" charset="0"/>
                <a:ea typeface="IBM Plex Sans" pitchFamily="34" charset="-122"/>
                <a:cs typeface="IBM Plex Sans" pitchFamily="34" charset="-120"/>
              </a:rPr>
              <a:t>LA VECINA LEE</a:t>
            </a:r>
            <a:endParaRPr lang="en-US" sz="1200" dirty="0"/>
          </a:p>
        </p:txBody>
      </p:sp>
      <p:sp>
        <p:nvSpPr>
          <p:cNvPr id="6" name="Text 4"/>
          <p:cNvSpPr/>
          <p:nvPr/>
        </p:nvSpPr>
        <p:spPr>
          <a:xfrm>
            <a:off x="1104900" y="2368153"/>
            <a:ext cx="4983861" cy="1114822"/>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31313"/>
                </a:solidFill>
                <a:latin typeface="IBM Plex Sans" pitchFamily="34" charset="0"/>
                <a:ea typeface="IBM Plex Sans" pitchFamily="34" charset="-122"/>
                <a:cs typeface="IBM Plex Sans" pitchFamily="34" charset="-120"/>
              </a:rPr>
              <a:t>«Colegio: harán falta entre 959 y 1.882 plazas. Hoy hay 1 público a menos de 10 minutos.»</a:t>
            </a:r>
            <a:endParaRPr lang="en-US" sz="2200" dirty="0"/>
          </a:p>
        </p:txBody>
      </p:sp>
      <p:sp>
        <p:nvSpPr>
          <p:cNvPr id="7" name="Text 5"/>
          <p:cNvSpPr/>
          <p:nvPr/>
        </p:nvSpPr>
        <p:spPr>
          <a:xfrm>
            <a:off x="1104900" y="3584575"/>
            <a:ext cx="498386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Frases cortas, estados claros (ya existe, reservado, suelo libre) y su ficha en PDF.</a:t>
            </a:r>
            <a:endParaRPr lang="en-US" sz="1600" dirty="0"/>
          </a:p>
        </p:txBody>
      </p:sp>
      <p:sp>
        <p:nvSpPr>
          <p:cNvPr id="8" name="Shape 6"/>
          <p:cNvSpPr/>
          <p:nvPr/>
        </p:nvSpPr>
        <p:spPr>
          <a:xfrm>
            <a:off x="6267450" y="1977033"/>
            <a:ext cx="0" cy="2227263"/>
          </a:xfrm>
          <a:prstGeom prst="line">
            <a:avLst/>
          </a:prstGeom>
          <a:noFill/>
          <a:ln w="38100">
            <a:solidFill>
              <a:srgbClr val="C20024"/>
            </a:solidFill>
            <a:prstDash val="solid"/>
          </a:ln>
        </p:spPr>
      </p:sp>
      <p:sp>
        <p:nvSpPr>
          <p:cNvPr id="9" name="Text 7"/>
          <p:cNvSpPr/>
          <p:nvPr/>
        </p:nvSpPr>
        <p:spPr>
          <a:xfrm>
            <a:off x="6540500" y="2027833"/>
            <a:ext cx="498386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LA TÉCNICA LEE</a:t>
            </a:r>
            <a:endParaRPr lang="en-US" sz="1200" dirty="0"/>
          </a:p>
        </p:txBody>
      </p:sp>
      <p:sp>
        <p:nvSpPr>
          <p:cNvPr id="10" name="Text 8"/>
          <p:cNvSpPr/>
          <p:nvPr/>
        </p:nvSpPr>
        <p:spPr>
          <a:xfrm>
            <a:off x="6540500" y="2368153"/>
            <a:ext cx="4983861" cy="1114822"/>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31313"/>
                </a:solidFill>
                <a:latin typeface="IBM Plex Sans" pitchFamily="34" charset="0"/>
                <a:ea typeface="IBM Plex Sans" pitchFamily="34" charset="-122"/>
                <a:cs typeface="IBM Plex Sans" pitchFamily="34" charset="-120"/>
              </a:rPr>
              <a:t>«6 colegios nuevos: 3 ya hoy, el 4.º en 2029. Parcela S-15, 55.282 m², aguanta con retraso.»</a:t>
            </a:r>
            <a:endParaRPr lang="en-US" sz="2200" dirty="0"/>
          </a:p>
        </p:txBody>
      </p:sp>
      <p:sp>
        <p:nvSpPr>
          <p:cNvPr id="11" name="Text 9"/>
          <p:cNvSpPr/>
          <p:nvPr/>
        </p:nvSpPr>
        <p:spPr>
          <a:xfrm>
            <a:off x="6540500" y="3584575"/>
            <a:ext cx="498386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Rangos, años, parcelas con referencia catastral y escenarios que se pueden cambiar.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CÓMO FUNCIONA · 1. LOS DATOS</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Todo sale por API oficial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8133"/>
          <a:ext cx="10553700" cy="2514898"/>
        </p:xfrm>
        <a:graphic>
          <a:graphicData uri="http://schemas.openxmlformats.org/drawingml/2006/table">
            <a:tbl>
              <a:tblPr/>
              <a:tblGrid>
                <a:gridCol w="3166110"/>
                <a:gridCol w="7387590"/>
              </a:tblGrid>
              <a:tr h="359271">
                <a:tc>
                  <a:txBody>
                    <a:bodyPr/>
                    <a:lstStyle/>
                    <a:p>
                      <a:pPr indent="0" marL="0">
                        <a:lnSpc>
                          <a:spcPts val="1820"/>
                        </a:lnSpc>
                        <a:buNone/>
                      </a:pPr>
                      <a:r>
                        <a:rPr lang="en-US" sz="1300" b="1" dirty="0">
                          <a:solidFill>
                            <a:srgbClr val="131313"/>
                          </a:solidFill>
                          <a:latin typeface="IBM Plex Sans" pitchFamily="34" charset="0"/>
                          <a:ea typeface="IBM Plex Sans" pitchFamily="34" charset="-122"/>
                          <a:cs typeface="IBM Plex Sans" pitchFamily="34" charset="-120"/>
                        </a:rPr>
                        <a:t>Fuente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BAB9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BAB9B8"/>
                      </a:solidFill>
                      <a:prstDash val="solid"/>
                      <a:round/>
                      <a:headEnd type="none" w="med" len="med"/>
                      <a:tailEnd type="none" w="med" len="med"/>
                    </a:lnB>
                    <a:solidFill>
                      <a:srgbClr val="E9E8E6"/>
                    </a:solidFill>
                  </a:tcPr>
                </a:tc>
                <a:tc>
                  <a:txBody>
                    <a:bodyPr/>
                    <a:lstStyle/>
                    <a:p>
                      <a:pPr indent="0" marL="0">
                        <a:lnSpc>
                          <a:spcPts val="1820"/>
                        </a:lnSpc>
                        <a:buNone/>
                      </a:pPr>
                      <a:r>
                        <a:rPr lang="en-US" sz="1300" b="1" dirty="0">
                          <a:solidFill>
                            <a:srgbClr val="131313"/>
                          </a:solidFill>
                          <a:latin typeface="IBM Plex Sans" pitchFamily="34" charset="0"/>
                          <a:ea typeface="IBM Plex Sans" pitchFamily="34" charset="-122"/>
                          <a:cs typeface="IBM Plex Sans" pitchFamily="34" charset="-120"/>
                        </a:rPr>
                        <a:t>Qué usamos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9B8"/>
                      </a:solidFill>
                      <a:prstDash val="solid"/>
                      <a:round/>
                      <a:headEnd type="none" w="med" len="med"/>
                      <a:tailEnd type="none" w="med" len="med"/>
                    </a:lnL>
                    <a:lnR w="12700" cap="flat" cmpd="sng" algn="ctr">
                      <a:solidFill>
                        <a:srgbClr val="BAB9B8"/>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BAB9B8"/>
                      </a:solidFill>
                      <a:prstDash val="solid"/>
                      <a:round/>
                      <a:headEnd type="none" w="med" len="med"/>
                      <a:tailEnd type="none" w="med" len="med"/>
                    </a:lnB>
                    <a:solidFill>
                      <a:srgbClr val="E9E8E6"/>
                    </a:solidFill>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IDEM · planeamiento (WFS)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BAB9B8"/>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Barrios en desarrollo, viviendas previstas, redes públicas, uso y edificabilidad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BAB9B8"/>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IDEM · suelo vacante 2026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Parcelas vacías u ocupadas (catastro): solares para vivienda y para servicios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IDEM · medio ambiente y EIEL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Espacios protegidos, Red Natura 2000 y parques que ya existen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Portal de Datos Abiertos (CKAN)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Centros educativos, sanitarios y sociales, farmacias, padrón, natalidad, renta, paro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INE · Atlas de Renta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Población por sección censal y edad, 2015-2023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Consorcio de Transportes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Paradas, líneas y recorridos, zonas del abono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6"/>
                      </a:solidFill>
                      <a:prstDash val="solid"/>
                      <a:round/>
                      <a:headEnd type="none" w="med" len="med"/>
                      <a:tailEnd type="none" w="med" len="med"/>
                    </a:lnL>
                    <a:lnR w="12700" cap="flat" cmpd="sng" algn="ctr">
                      <a:solidFill>
                        <a:srgbClr val="C8C7C6"/>
                      </a:solidFill>
                      <a:prstDash val="solid"/>
                      <a:round/>
                      <a:headEnd type="none" w="med" len="med"/>
                      <a:tailEnd type="none" w="med" len="med"/>
                    </a:lnR>
                    <a:lnT w="12700" cap="flat" cmpd="sng" algn="ctr">
                      <a:solidFill>
                        <a:srgbClr val="C8C7C6"/>
                      </a:solidFill>
                      <a:prstDash val="solid"/>
                      <a:round/>
                      <a:headEnd type="none" w="med" len="med"/>
                      <a:tailEnd type="none" w="med" len="med"/>
                    </a:lnT>
                    <a:lnB w="12700" cap="flat" cmpd="sng" algn="ctr">
                      <a:solidFill>
                        <a:srgbClr val="C8C7C6"/>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Requisito de las bases cumplido: API de la IDEM y del catálogo CKAN de la Comunidad. Ningún fichero bajado a mano.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F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CÓMO FUNCIONA · 2. EL PROCESO</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De la API al mapa, sin tocar nada a mano</a:t>
            </a:r>
            <a:endParaRPr lang="en-US" sz="3600" dirty="0"/>
          </a:p>
        </p:txBody>
      </p:sp>
      <p:sp>
        <p:nvSpPr>
          <p:cNvPr id="4" name="Shape 2"/>
          <p:cNvSpPr/>
          <p:nvPr/>
        </p:nvSpPr>
        <p:spPr>
          <a:xfrm>
            <a:off x="815975" y="2031008"/>
            <a:ext cx="1865610" cy="2053332"/>
          </a:xfrm>
          <a:prstGeom prst="roundRect">
            <a:avLst>
              <a:gd name="adj" fmla="val 5276"/>
            </a:avLst>
          </a:prstGeom>
          <a:solidFill>
            <a:srgbClr val="FFFFFF"/>
          </a:solidFill>
          <a:ln w="6350">
            <a:solidFill>
              <a:srgbClr val="D9D5D0"/>
            </a:solidFill>
            <a:prstDash val="solid"/>
          </a:ln>
        </p:spPr>
      </p:sp>
      <p:sp>
        <p:nvSpPr>
          <p:cNvPr id="5" name="Text 3"/>
          <p:cNvSpPr/>
          <p:nvPr/>
        </p:nvSpPr>
        <p:spPr>
          <a:xfrm>
            <a:off x="1022350" y="2237383"/>
            <a:ext cx="15036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0024"/>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1022350" y="2704703"/>
            <a:ext cx="15036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Descargar</a:t>
            </a:r>
            <a:endParaRPr lang="en-US" sz="1600" dirty="0"/>
          </a:p>
        </p:txBody>
      </p:sp>
      <p:sp>
        <p:nvSpPr>
          <p:cNvPr id="7" name="Text 5"/>
          <p:cNvSpPr/>
          <p:nvPr/>
        </p:nvSpPr>
        <p:spPr>
          <a:xfrm>
            <a:off x="1022350" y="3024684"/>
            <a:ext cx="15036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44"/>
                </a:solidFill>
                <a:latin typeface="IBM Plex Sans" pitchFamily="34" charset="0"/>
                <a:ea typeface="IBM Plex Sans" pitchFamily="34" charset="-122"/>
                <a:cs typeface="IBM Plex Sans" pitchFamily="34" charset="-120"/>
              </a:rPr>
              <a:t>Scripts en Python llaman a cada API, municipio a municipio</a:t>
            </a:r>
            <a:endParaRPr lang="en-US" sz="1200" dirty="0"/>
          </a:p>
        </p:txBody>
      </p:sp>
      <p:pic>
        <p:nvPicPr>
          <p:cNvPr id="8" name="Image 0" descr="connector">    </p:cNvPr>
          <p:cNvPicPr>
            <a:picLocks noChangeAspect="1"/>
          </p:cNvPicPr>
          <p:nvPr/>
        </p:nvPicPr>
        <p:blipFill>
          <a:blip r:embed="rId1"/>
          <a:srcRect l="0" r="0" t="0" b="0"/>
          <a:stretch/>
        </p:blipFill>
        <p:spPr>
          <a:xfrm>
            <a:off x="2684760" y="2027833"/>
            <a:ext cx="304800" cy="76200"/>
          </a:xfrm>
          <a:prstGeom prst="rect">
            <a:avLst/>
          </a:prstGeom>
        </p:spPr>
      </p:pic>
      <p:sp>
        <p:nvSpPr>
          <p:cNvPr id="9" name="Shape 6"/>
          <p:cNvSpPr/>
          <p:nvPr/>
        </p:nvSpPr>
        <p:spPr>
          <a:xfrm>
            <a:off x="2992735" y="2031008"/>
            <a:ext cx="1865709" cy="2053332"/>
          </a:xfrm>
          <a:prstGeom prst="roundRect">
            <a:avLst>
              <a:gd name="adj" fmla="val 5275"/>
            </a:avLst>
          </a:prstGeom>
          <a:solidFill>
            <a:srgbClr val="FFFFFF"/>
          </a:solidFill>
          <a:ln w="6350">
            <a:solidFill>
              <a:srgbClr val="D9D5D0"/>
            </a:solidFill>
            <a:prstDash val="solid"/>
          </a:ln>
        </p:spPr>
      </p:sp>
      <p:sp>
        <p:nvSpPr>
          <p:cNvPr id="10" name="Text 7"/>
          <p:cNvSpPr/>
          <p:nvPr/>
        </p:nvSpPr>
        <p:spPr>
          <a:xfrm>
            <a:off x="3199110" y="2237383"/>
            <a:ext cx="150375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0024"/>
                </a:solidFill>
                <a:latin typeface="IBM Plex Sans" pitchFamily="34" charset="0"/>
                <a:ea typeface="IBM Plex Sans" pitchFamily="34" charset="-122"/>
                <a:cs typeface="IBM Plex Sans" pitchFamily="34" charset="-120"/>
              </a:rPr>
              <a:t>2</a:t>
            </a:r>
            <a:endParaRPr lang="en-US" sz="2200" dirty="0"/>
          </a:p>
        </p:txBody>
      </p:sp>
      <p:sp>
        <p:nvSpPr>
          <p:cNvPr id="11" name="Text 8"/>
          <p:cNvSpPr/>
          <p:nvPr/>
        </p:nvSpPr>
        <p:spPr>
          <a:xfrm>
            <a:off x="3199110" y="2704703"/>
            <a:ext cx="15037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Limpiar</a:t>
            </a:r>
            <a:endParaRPr lang="en-US" sz="1600" dirty="0"/>
          </a:p>
        </p:txBody>
      </p:sp>
      <p:sp>
        <p:nvSpPr>
          <p:cNvPr id="12" name="Text 9"/>
          <p:cNvSpPr/>
          <p:nvPr/>
        </p:nvSpPr>
        <p:spPr>
          <a:xfrm>
            <a:off x="3199110" y="3024684"/>
            <a:ext cx="15037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44"/>
                </a:solidFill>
                <a:latin typeface="IBM Plex Sans" pitchFamily="34" charset="0"/>
                <a:ea typeface="IBM Plex Sans" pitchFamily="34" charset="-122"/>
                <a:cs typeface="IBM Plex Sans" pitchFamily="34" charset="-120"/>
              </a:rPr>
              <a:t>Geometrías reparadas, errores descartados, todo al mismo código INE</a:t>
            </a:r>
            <a:endParaRPr lang="en-US" sz="1200" dirty="0"/>
          </a:p>
        </p:txBody>
      </p:sp>
      <p:pic>
        <p:nvPicPr>
          <p:cNvPr id="13" name="Image 1" descr="connector">    </p:cNvPr>
          <p:cNvPicPr>
            <a:picLocks noChangeAspect="1"/>
          </p:cNvPicPr>
          <p:nvPr/>
        </p:nvPicPr>
        <p:blipFill>
          <a:blip r:embed="rId2"/>
          <a:srcRect l="0" r="0" t="0" b="0"/>
          <a:stretch/>
        </p:blipFill>
        <p:spPr>
          <a:xfrm>
            <a:off x="4861620" y="2027833"/>
            <a:ext cx="304800" cy="76200"/>
          </a:xfrm>
          <a:prstGeom prst="rect">
            <a:avLst/>
          </a:prstGeom>
        </p:spPr>
      </p:pic>
      <p:sp>
        <p:nvSpPr>
          <p:cNvPr id="14" name="Shape 10"/>
          <p:cNvSpPr/>
          <p:nvPr/>
        </p:nvSpPr>
        <p:spPr>
          <a:xfrm>
            <a:off x="5169595" y="2031008"/>
            <a:ext cx="1865610" cy="2053332"/>
          </a:xfrm>
          <a:prstGeom prst="roundRect">
            <a:avLst>
              <a:gd name="adj" fmla="val 5276"/>
            </a:avLst>
          </a:prstGeom>
          <a:solidFill>
            <a:srgbClr val="FFFFFF"/>
          </a:solidFill>
          <a:ln w="6350">
            <a:solidFill>
              <a:srgbClr val="D9D5D0"/>
            </a:solidFill>
            <a:prstDash val="solid"/>
          </a:ln>
        </p:spPr>
      </p:sp>
      <p:sp>
        <p:nvSpPr>
          <p:cNvPr id="15" name="Text 11"/>
          <p:cNvSpPr/>
          <p:nvPr/>
        </p:nvSpPr>
        <p:spPr>
          <a:xfrm>
            <a:off x="5375970" y="2237383"/>
            <a:ext cx="15036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0024"/>
                </a:solidFill>
                <a:latin typeface="IBM Plex Sans" pitchFamily="34" charset="0"/>
                <a:ea typeface="IBM Plex Sans" pitchFamily="34" charset="-122"/>
                <a:cs typeface="IBM Plex Sans" pitchFamily="34" charset="-120"/>
              </a:rPr>
              <a:t>3</a:t>
            </a:r>
            <a:endParaRPr lang="en-US" sz="2200" dirty="0"/>
          </a:p>
        </p:txBody>
      </p:sp>
      <p:sp>
        <p:nvSpPr>
          <p:cNvPr id="16" name="Text 12"/>
          <p:cNvSpPr/>
          <p:nvPr/>
        </p:nvSpPr>
        <p:spPr>
          <a:xfrm>
            <a:off x="5375970" y="2704703"/>
            <a:ext cx="15036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Cruzar</a:t>
            </a:r>
            <a:endParaRPr lang="en-US" sz="1600" dirty="0"/>
          </a:p>
        </p:txBody>
      </p:sp>
      <p:sp>
        <p:nvSpPr>
          <p:cNvPr id="17" name="Text 13"/>
          <p:cNvSpPr/>
          <p:nvPr/>
        </p:nvSpPr>
        <p:spPr>
          <a:xfrm>
            <a:off x="5375970" y="3024684"/>
            <a:ext cx="15036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44"/>
                </a:solidFill>
                <a:latin typeface="IBM Plex Sans" pitchFamily="34" charset="0"/>
                <a:ea typeface="IBM Plex Sans" pitchFamily="34" charset="-122"/>
                <a:cs typeface="IBM Plex Sans" pitchFamily="34" charset="-120"/>
              </a:rPr>
              <a:t>Población, planeamiento, catastro y transporte en el mismo mapa</a:t>
            </a:r>
            <a:endParaRPr lang="en-US" sz="1200" dirty="0"/>
          </a:p>
        </p:txBody>
      </p:sp>
      <p:pic>
        <p:nvPicPr>
          <p:cNvPr id="18" name="Image 2" descr="connector">    </p:cNvPr>
          <p:cNvPicPr>
            <a:picLocks noChangeAspect="1"/>
          </p:cNvPicPr>
          <p:nvPr/>
        </p:nvPicPr>
        <p:blipFill>
          <a:blip r:embed="rId3"/>
          <a:srcRect l="0" r="0" t="0" b="0"/>
          <a:stretch/>
        </p:blipFill>
        <p:spPr>
          <a:xfrm>
            <a:off x="7038380" y="2027833"/>
            <a:ext cx="304800" cy="76200"/>
          </a:xfrm>
          <a:prstGeom prst="rect">
            <a:avLst/>
          </a:prstGeom>
        </p:spPr>
      </p:pic>
      <p:sp>
        <p:nvSpPr>
          <p:cNvPr id="19" name="Shape 14"/>
          <p:cNvSpPr/>
          <p:nvPr/>
        </p:nvSpPr>
        <p:spPr>
          <a:xfrm>
            <a:off x="7346355" y="2031008"/>
            <a:ext cx="1865610" cy="2053332"/>
          </a:xfrm>
          <a:prstGeom prst="roundRect">
            <a:avLst>
              <a:gd name="adj" fmla="val 5276"/>
            </a:avLst>
          </a:prstGeom>
          <a:solidFill>
            <a:srgbClr val="FFFFFF"/>
          </a:solidFill>
          <a:ln w="6350">
            <a:solidFill>
              <a:srgbClr val="D9D5D0"/>
            </a:solidFill>
            <a:prstDash val="solid"/>
          </a:ln>
        </p:spPr>
      </p:sp>
      <p:sp>
        <p:nvSpPr>
          <p:cNvPr id="20" name="Text 15"/>
          <p:cNvSpPr/>
          <p:nvPr/>
        </p:nvSpPr>
        <p:spPr>
          <a:xfrm>
            <a:off x="7552730" y="2237383"/>
            <a:ext cx="15036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0024"/>
                </a:solidFill>
                <a:latin typeface="IBM Plex Sans" pitchFamily="34" charset="0"/>
                <a:ea typeface="IBM Plex Sans" pitchFamily="34" charset="-122"/>
                <a:cs typeface="IBM Plex Sans" pitchFamily="34" charset="-120"/>
              </a:rPr>
              <a:t>4</a:t>
            </a:r>
            <a:endParaRPr lang="en-US" sz="2200" dirty="0"/>
          </a:p>
        </p:txBody>
      </p:sp>
      <p:sp>
        <p:nvSpPr>
          <p:cNvPr id="21" name="Text 16"/>
          <p:cNvSpPr/>
          <p:nvPr/>
        </p:nvSpPr>
        <p:spPr>
          <a:xfrm>
            <a:off x="7552730" y="2704703"/>
            <a:ext cx="15036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Calcular</a:t>
            </a:r>
            <a:endParaRPr lang="en-US" sz="1600" dirty="0"/>
          </a:p>
        </p:txBody>
      </p:sp>
      <p:sp>
        <p:nvSpPr>
          <p:cNvPr id="22" name="Text 17"/>
          <p:cNvSpPr/>
          <p:nvPr/>
        </p:nvSpPr>
        <p:spPr>
          <a:xfrm>
            <a:off x="7552730" y="3024684"/>
            <a:ext cx="15036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44"/>
                </a:solidFill>
                <a:latin typeface="IBM Plex Sans" pitchFamily="34" charset="0"/>
                <a:ea typeface="IBM Plex Sans" pitchFamily="34" charset="-122"/>
                <a:cs typeface="IBM Plex Sans" pitchFamily="34" charset="-120"/>
              </a:rPr>
              <a:t>Población futura, demanda por servicio y ranking</a:t>
            </a:r>
            <a:endParaRPr lang="en-US" sz="1200" dirty="0"/>
          </a:p>
        </p:txBody>
      </p:sp>
      <p:pic>
        <p:nvPicPr>
          <p:cNvPr id="23" name="Image 3" descr="connector">    </p:cNvPr>
          <p:cNvPicPr>
            <a:picLocks noChangeAspect="1"/>
          </p:cNvPicPr>
          <p:nvPr/>
        </p:nvPicPr>
        <p:blipFill>
          <a:blip r:embed="rId4"/>
          <a:srcRect l="0" r="0" t="0" b="0"/>
          <a:stretch/>
        </p:blipFill>
        <p:spPr>
          <a:xfrm>
            <a:off x="9215140" y="2027833"/>
            <a:ext cx="304800" cy="76200"/>
          </a:xfrm>
          <a:prstGeom prst="rect">
            <a:avLst/>
          </a:prstGeom>
        </p:spPr>
      </p:pic>
      <p:sp>
        <p:nvSpPr>
          <p:cNvPr id="24" name="Shape 18"/>
          <p:cNvSpPr/>
          <p:nvPr/>
        </p:nvSpPr>
        <p:spPr>
          <a:xfrm>
            <a:off x="9519940" y="2027833"/>
            <a:ext cx="1859260" cy="2059682"/>
          </a:xfrm>
          <a:prstGeom prst="roundRect">
            <a:avLst>
              <a:gd name="adj" fmla="val 5465"/>
            </a:avLst>
          </a:prstGeom>
          <a:solidFill>
            <a:srgbClr val="131313"/>
          </a:solidFill>
          <a:ln/>
        </p:spPr>
      </p:sp>
      <p:sp>
        <p:nvSpPr>
          <p:cNvPr id="25" name="Text 19"/>
          <p:cNvSpPr/>
          <p:nvPr/>
        </p:nvSpPr>
        <p:spPr>
          <a:xfrm>
            <a:off x="9723140" y="2231033"/>
            <a:ext cx="150366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8094"/>
                </a:solidFill>
                <a:latin typeface="IBM Plex Sans" pitchFamily="34" charset="0"/>
                <a:ea typeface="IBM Plex Sans" pitchFamily="34" charset="-122"/>
                <a:cs typeface="IBM Plex Sans" pitchFamily="34" charset="-120"/>
              </a:rPr>
              <a:t>5</a:t>
            </a:r>
            <a:endParaRPr lang="en-US" sz="2200" dirty="0"/>
          </a:p>
        </p:txBody>
      </p:sp>
      <p:sp>
        <p:nvSpPr>
          <p:cNvPr id="26" name="Text 20"/>
          <p:cNvSpPr/>
          <p:nvPr/>
        </p:nvSpPr>
        <p:spPr>
          <a:xfrm>
            <a:off x="9723140" y="2698353"/>
            <a:ext cx="15036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AF8"/>
                </a:solidFill>
                <a:latin typeface="IBM Plex Sans" pitchFamily="34" charset="0"/>
                <a:ea typeface="IBM Plex Sans" pitchFamily="34" charset="-122"/>
                <a:cs typeface="IBM Plex Sans" pitchFamily="34" charset="-120"/>
              </a:rPr>
              <a:t>Publicar</a:t>
            </a:r>
            <a:endParaRPr lang="en-US" sz="1600" dirty="0"/>
          </a:p>
        </p:txBody>
      </p:sp>
      <p:sp>
        <p:nvSpPr>
          <p:cNvPr id="27" name="Text 21"/>
          <p:cNvSpPr/>
          <p:nvPr/>
        </p:nvSpPr>
        <p:spPr>
          <a:xfrm>
            <a:off x="9723140" y="3018334"/>
            <a:ext cx="15036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2CD"/>
                </a:solidFill>
                <a:latin typeface="IBM Plex Sans" pitchFamily="34" charset="0"/>
                <a:ea typeface="IBM Plex Sans" pitchFamily="34" charset="-122"/>
                <a:cs typeface="IBM Plex Sans" pitchFamily="34" charset="-120"/>
              </a:rPr>
              <a:t>Web y datasets abiertos en Oracle Cloud</a:t>
            </a:r>
            <a:endParaRPr lang="en-US" sz="1200" dirty="0"/>
          </a:p>
        </p:txBody>
      </p:sp>
      <p:sp>
        <p:nvSpPr>
          <p:cNvPr id="28" name="Text 22"/>
          <p:cNvSpPr/>
          <p:nvPr/>
        </p:nvSpPr>
        <p:spPr>
          <a:xfrm>
            <a:off x="812800" y="4493915"/>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178 municipios procesados en unos 40 minutos. Un comando añade o actualiza cualquiera. Un verificador comprueba que ningún fichero mezcla municipios.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CÓMO FUNCIONA · 3. LA LIMPIEZA</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Errores en datos oficiales que encontramos</a:t>
            </a:r>
            <a:endParaRPr lang="en-US" sz="3600" dirty="0"/>
          </a:p>
        </p:txBody>
      </p:sp>
      <p:sp>
        <p:nvSpPr>
          <p:cNvPr id="4" name="Shape 2"/>
          <p:cNvSpPr/>
          <p:nvPr/>
        </p:nvSpPr>
        <p:spPr>
          <a:xfrm>
            <a:off x="812800" y="1938933"/>
            <a:ext cx="5181600" cy="0"/>
          </a:xfrm>
          <a:prstGeom prst="line">
            <a:avLst/>
          </a:prstGeom>
          <a:noFill/>
          <a:ln w="25400">
            <a:solidFill>
              <a:srgbClr val="131313"/>
            </a:solidFill>
            <a:prstDash val="solid"/>
          </a:ln>
        </p:spPr>
      </p:sp>
      <p:sp>
        <p:nvSpPr>
          <p:cNvPr id="5" name="Text 3"/>
          <p:cNvSpPr/>
          <p:nvPr/>
        </p:nvSpPr>
        <p:spPr>
          <a:xfrm>
            <a:off x="812800" y="2104033"/>
            <a:ext cx="533704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Centros de salud en otra ciudad</a:t>
            </a:r>
            <a:endParaRPr lang="en-US" sz="1600" dirty="0"/>
          </a:p>
        </p:txBody>
      </p:sp>
      <p:sp>
        <p:nvSpPr>
          <p:cNvPr id="6" name="Text 4"/>
          <p:cNvSpPr/>
          <p:nvPr/>
        </p:nvSpPr>
        <p:spPr>
          <a:xfrm>
            <a:off x="812800" y="2424013"/>
            <a:ext cx="533704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44"/>
                </a:solidFill>
                <a:latin typeface="IBM Plex Sans" pitchFamily="34" charset="0"/>
                <a:ea typeface="IBM Plex Sans" pitchFamily="34" charset="-122"/>
                <a:cs typeface="IBM Plex Sans" pitchFamily="34" charset="-120"/>
              </a:rPr>
              <a:t>Geolocalizados en una calle con el mismo nombre, a decenas de kilómetros. Se descartan a más de 15 km.</a:t>
            </a:r>
            <a:endParaRPr lang="en-US" sz="1300" dirty="0"/>
          </a:p>
        </p:txBody>
      </p:sp>
      <p:sp>
        <p:nvSpPr>
          <p:cNvPr id="7" name="Shape 5"/>
          <p:cNvSpPr/>
          <p:nvPr/>
        </p:nvSpPr>
        <p:spPr>
          <a:xfrm>
            <a:off x="6197600" y="1938933"/>
            <a:ext cx="5181600" cy="0"/>
          </a:xfrm>
          <a:prstGeom prst="line">
            <a:avLst/>
          </a:prstGeom>
          <a:noFill/>
          <a:ln w="25400">
            <a:solidFill>
              <a:srgbClr val="131313"/>
            </a:solidFill>
            <a:prstDash val="solid"/>
          </a:ln>
        </p:spPr>
      </p:sp>
      <p:sp>
        <p:nvSpPr>
          <p:cNvPr id="8" name="Text 6"/>
          <p:cNvSpPr/>
          <p:nvPr/>
        </p:nvSpPr>
        <p:spPr>
          <a:xfrm>
            <a:off x="6197600" y="2104033"/>
            <a:ext cx="533704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Paradas de otra provincia</a:t>
            </a:r>
            <a:endParaRPr lang="en-US" sz="1600" dirty="0"/>
          </a:p>
        </p:txBody>
      </p:sp>
      <p:sp>
        <p:nvSpPr>
          <p:cNvPr id="9" name="Text 7"/>
          <p:cNvSpPr/>
          <p:nvPr/>
        </p:nvSpPr>
        <p:spPr>
          <a:xfrm>
            <a:off x="6197600" y="2424013"/>
            <a:ext cx="533704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44"/>
                </a:solidFill>
                <a:latin typeface="IBM Plex Sans" pitchFamily="34" charset="0"/>
                <a:ea typeface="IBM Plex Sans" pitchFamily="34" charset="-122"/>
                <a:cs typeface="IBM Plex Sans" pitchFamily="34" charset="-120"/>
              </a:rPr>
              <a:t>Una parada de Ciudad Real con el código de un pueblo de Madrid. Se filtra por provincia.</a:t>
            </a:r>
            <a:endParaRPr lang="en-US" sz="1300" dirty="0"/>
          </a:p>
        </p:txBody>
      </p:sp>
      <p:sp>
        <p:nvSpPr>
          <p:cNvPr id="10" name="Shape 8"/>
          <p:cNvSpPr/>
          <p:nvPr/>
        </p:nvSpPr>
        <p:spPr>
          <a:xfrm>
            <a:off x="812800" y="3102074"/>
            <a:ext cx="5181600" cy="0"/>
          </a:xfrm>
          <a:prstGeom prst="line">
            <a:avLst/>
          </a:prstGeom>
          <a:noFill/>
          <a:ln w="25400">
            <a:solidFill>
              <a:srgbClr val="131313"/>
            </a:solidFill>
            <a:prstDash val="solid"/>
          </a:ln>
        </p:spPr>
      </p:sp>
      <p:sp>
        <p:nvSpPr>
          <p:cNvPr id="11" name="Text 9"/>
          <p:cNvSpPr/>
          <p:nvPr/>
        </p:nvSpPr>
        <p:spPr>
          <a:xfrm>
            <a:off x="812800" y="3267174"/>
            <a:ext cx="533704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Miles de geometrías inválidas</a:t>
            </a:r>
            <a:endParaRPr lang="en-US" sz="1600" dirty="0"/>
          </a:p>
        </p:txBody>
      </p:sp>
      <p:sp>
        <p:nvSpPr>
          <p:cNvPr id="12" name="Text 10"/>
          <p:cNvSpPr/>
          <p:nvPr/>
        </p:nvSpPr>
        <p:spPr>
          <a:xfrm>
            <a:off x="812800" y="3587155"/>
            <a:ext cx="533704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44"/>
                </a:solidFill>
                <a:latin typeface="IBM Plex Sans" pitchFamily="34" charset="0"/>
                <a:ea typeface="IBM Plex Sans" pitchFamily="34" charset="-122"/>
                <a:cs typeface="IBM Plex Sans" pitchFamily="34" charset="-120"/>
              </a:rPr>
              <a:t>Parcelas y barrios que se cruzan a sí mismos. Se reparan sin perder superficie.</a:t>
            </a:r>
            <a:endParaRPr lang="en-US" sz="1300" dirty="0"/>
          </a:p>
        </p:txBody>
      </p:sp>
      <p:sp>
        <p:nvSpPr>
          <p:cNvPr id="13" name="Shape 11"/>
          <p:cNvSpPr/>
          <p:nvPr/>
        </p:nvSpPr>
        <p:spPr>
          <a:xfrm>
            <a:off x="6197600" y="3102074"/>
            <a:ext cx="5181600" cy="0"/>
          </a:xfrm>
          <a:prstGeom prst="line">
            <a:avLst/>
          </a:prstGeom>
          <a:noFill/>
          <a:ln w="25400">
            <a:solidFill>
              <a:srgbClr val="C20024"/>
            </a:solidFill>
            <a:prstDash val="solid"/>
          </a:ln>
        </p:spPr>
      </p:sp>
      <p:sp>
        <p:nvSpPr>
          <p:cNvPr id="14" name="Text 12"/>
          <p:cNvSpPr/>
          <p:nvPr/>
        </p:nvSpPr>
        <p:spPr>
          <a:xfrm>
            <a:off x="6197600" y="3267174"/>
            <a:ext cx="533704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Zonas verdes «sin estado»</a:t>
            </a:r>
            <a:endParaRPr lang="en-US" sz="1600" dirty="0"/>
          </a:p>
        </p:txBody>
      </p:sp>
      <p:sp>
        <p:nvSpPr>
          <p:cNvPr id="15" name="Text 13"/>
          <p:cNvSpPr/>
          <p:nvPr/>
        </p:nvSpPr>
        <p:spPr>
          <a:xfrm>
            <a:off x="6197600" y="3587155"/>
            <a:ext cx="533704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44"/>
                </a:solidFill>
                <a:latin typeface="IBM Plex Sans" pitchFamily="34" charset="0"/>
                <a:ea typeface="IBM Plex Sans" pitchFamily="34" charset="-122"/>
                <a:cs typeface="IBM Plex Sans" pitchFamily="34" charset="-120"/>
              </a:rPr>
              <a:t>Cruzadas con el catastro: 9.391 ya hechas, 509 reservadas pero vacías.</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Los detectamos, los corregimos y se los podemos devolver a la Comunidad.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EFEC"/>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CÓMO FUNCIONA · 4. EL MODELO</a:t>
            </a:r>
            <a:endParaRPr lang="en-US" sz="1200" dirty="0"/>
          </a:p>
        </p:txBody>
      </p:sp>
      <p:sp>
        <p:nvSpPr>
          <p:cNvPr id="3" name="Text 1"/>
          <p:cNvSpPr/>
          <p:nvPr>
            <p:ph type="title"/>
          </p:nvPr>
        </p:nvSpPr>
        <p:spPr>
          <a:xfrm>
            <a:off x="812800" y="1203920"/>
            <a:ext cx="4970780" cy="1012825"/>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¿Cuánta gente va a llegar?</a:t>
            </a:r>
            <a:endParaRPr lang="en-US" sz="3600" dirty="0"/>
          </a:p>
        </p:txBody>
      </p:sp>
      <p:sp>
        <p:nvSpPr>
          <p:cNvPr id="4" name="Text 2"/>
          <p:cNvSpPr/>
          <p:nvPr/>
        </p:nvSpPr>
        <p:spPr>
          <a:xfrm>
            <a:off x="812800" y="2369145"/>
            <a:ext cx="497078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Viviendas previstas × habitantes por vivienda </a:t>
            </a:r>
            <a:r>
              <a:rPr lang="en-US" sz="1600" b="1" dirty="0">
                <a:solidFill>
                  <a:srgbClr val="4A4744"/>
                </a:solidFill>
                <a:latin typeface="IBM Plex Sans" pitchFamily="34" charset="0"/>
                <a:ea typeface="IBM Plex Sans" pitchFamily="34" charset="-122"/>
                <a:cs typeface="IBM Plex Sans" pitchFamily="34" charset="-120"/>
              </a:rPr>
              <a:t>medidos en barrios nuevos reales</a:t>
            </a:r>
            <a:r>
              <a:rPr lang="en-US" sz="1600" dirty="0">
                <a:solidFill>
                  <a:srgbClr val="4A4744"/>
                </a:solidFill>
                <a:latin typeface="IBM Plex Sans" pitchFamily="34" charset="0"/>
                <a:ea typeface="IBM Plex Sans" pitchFamily="34" charset="-122"/>
                <a:cs typeface="IBM Plex Sans" pitchFamily="34" charset="-120"/>
              </a:rPr>
              <a:t> de Getafe: entre 1,49 y 2,18, con un valor central de 2,0.</a:t>
            </a:r>
            <a:endParaRPr lang="en-US" sz="1600" dirty="0"/>
          </a:p>
        </p:txBody>
      </p:sp>
      <p:sp>
        <p:nvSpPr>
          <p:cNvPr id="5" name="Text 3"/>
          <p:cNvSpPr/>
          <p:nvPr/>
        </p:nvSpPr>
        <p:spPr>
          <a:xfrm>
            <a:off x="812800" y="3400326"/>
            <a:ext cx="49707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Por edades, y año a año según se llenan los barrios. Siempre con rango.</a:t>
            </a:r>
            <a:endParaRPr lang="en-US" sz="1600" dirty="0"/>
          </a:p>
        </p:txBody>
      </p:sp>
      <p:sp>
        <p:nvSpPr>
          <p:cNvPr id="6" name="Text 4"/>
          <p:cNvSpPr/>
          <p:nvPr/>
        </p:nvSpPr>
        <p:spPr>
          <a:xfrm>
            <a:off x="6146800" y="1735237"/>
            <a:ext cx="538937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1313"/>
                </a:solidFill>
                <a:latin typeface="IBM Plex Sans" pitchFamily="34" charset="0"/>
                <a:ea typeface="IBM Plex Sans" pitchFamily="34" charset="-122"/>
                <a:cs typeface="IBM Plex Sans" pitchFamily="34" charset="-120"/>
              </a:rPr>
              <a:t>Prueba con el pasado</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59500" y="2184797"/>
          <a:ext cx="5219700" cy="2155627"/>
        </p:xfrm>
        <a:graphic>
          <a:graphicData uri="http://schemas.openxmlformats.org/drawingml/2006/table">
            <a:tbl>
              <a:tblPr/>
              <a:tblGrid>
                <a:gridCol w="2401062"/>
                <a:gridCol w="1409319"/>
                <a:gridCol w="1409319"/>
              </a:tblGrid>
              <a:tr h="359271">
                <a:tc>
                  <a:txBody>
                    <a:bodyPr/>
                    <a:lstStyle/>
                    <a:p>
                      <a:pPr indent="0" marL="0">
                        <a:lnSpc>
                          <a:spcPts val="1820"/>
                        </a:lnSpc>
                        <a:buNone/>
                      </a:pPr>
                      <a:r>
                        <a:rPr lang="en-US" sz="1300" b="1" dirty="0">
                          <a:solidFill>
                            <a:srgbClr val="131313"/>
                          </a:solidFill>
                          <a:latin typeface="IBM Plex Sans" pitchFamily="34" charset="0"/>
                          <a:ea typeface="IBM Plex Sans" pitchFamily="34" charset="-122"/>
                          <a:cs typeface="IBM Plex Sans" pitchFamily="34" charset="-120"/>
                        </a:rPr>
                        <a:t>Barrio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B2B1AF"/>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B2B1AF"/>
                      </a:solidFill>
                      <a:prstDash val="solid"/>
                      <a:round/>
                      <a:headEnd type="none" w="med" len="med"/>
                      <a:tailEnd type="none" w="med" len="med"/>
                    </a:lnB>
                    <a:solidFill>
                      <a:srgbClr val="DFDDDB"/>
                    </a:solidFill>
                  </a:tcPr>
                </a:tc>
                <a:tc>
                  <a:txBody>
                    <a:bodyPr/>
                    <a:lstStyle/>
                    <a:p>
                      <a:pPr algn="r" indent="0" marL="0">
                        <a:lnSpc>
                          <a:spcPts val="1820"/>
                        </a:lnSpc>
                        <a:buNone/>
                      </a:pPr>
                      <a:r>
                        <a:rPr lang="en-US" sz="1300" b="1" dirty="0">
                          <a:solidFill>
                            <a:srgbClr val="131313"/>
                          </a:solidFill>
                          <a:latin typeface="IBM Plex Sans" pitchFamily="34" charset="0"/>
                          <a:ea typeface="IBM Plex Sans" pitchFamily="34" charset="-122"/>
                          <a:cs typeface="IBM Plex Sans" pitchFamily="34" charset="-120"/>
                        </a:rPr>
                        <a:t>Nuestro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2B1AF"/>
                      </a:solidFill>
                      <a:prstDash val="solid"/>
                      <a:round/>
                      <a:headEnd type="none" w="med" len="med"/>
                      <a:tailEnd type="none" w="med" len="med"/>
                    </a:lnL>
                    <a:lnR w="12700" cap="flat" cmpd="sng" algn="ctr">
                      <a:solidFill>
                        <a:srgbClr val="B2B1AF"/>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B2B1AF"/>
                      </a:solidFill>
                      <a:prstDash val="solid"/>
                      <a:round/>
                      <a:headEnd type="none" w="med" len="med"/>
                      <a:tailEnd type="none" w="med" len="med"/>
                    </a:lnB>
                    <a:solidFill>
                      <a:srgbClr val="DFDDDB"/>
                    </a:solidFill>
                  </a:tcPr>
                </a:tc>
                <a:tc>
                  <a:txBody>
                    <a:bodyPr/>
                    <a:lstStyle/>
                    <a:p>
                      <a:pPr algn="r" indent="0" marL="0">
                        <a:lnSpc>
                          <a:spcPts val="1820"/>
                        </a:lnSpc>
                        <a:buNone/>
                      </a:pPr>
                      <a:r>
                        <a:rPr lang="en-US" sz="1300" b="1" dirty="0">
                          <a:solidFill>
                            <a:srgbClr val="131313"/>
                          </a:solidFill>
                          <a:latin typeface="IBM Plex Sans" pitchFamily="34" charset="0"/>
                          <a:ea typeface="IBM Plex Sans" pitchFamily="34" charset="-122"/>
                          <a:cs typeface="IBM Plex Sans" pitchFamily="34" charset="-120"/>
                        </a:rPr>
                        <a:t>Regla habitual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2B1AF"/>
                      </a:solidFill>
                      <a:prstDash val="solid"/>
                      <a:round/>
                      <a:headEnd type="none" w="med" len="med"/>
                      <a:tailEnd type="none" w="med" len="med"/>
                    </a:lnL>
                    <a:lnR w="12700" cap="flat" cmpd="sng" algn="ctr">
                      <a:solidFill>
                        <a:srgbClr val="B2B1AF"/>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B2B1AF"/>
                      </a:solidFill>
                      <a:prstDash val="solid"/>
                      <a:round/>
                      <a:headEnd type="none" w="med" len="med"/>
                      <a:tailEnd type="none" w="med" len="med"/>
                    </a:lnB>
                    <a:solidFill>
                      <a:srgbClr val="DFDDDB"/>
                    </a:solidFill>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El Bercial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B2B1AF"/>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−15,8 %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B2B1AF"/>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+19,6 %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B2B1AF"/>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Perales del Río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−15,9 %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+19,5 %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Los Molinos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+6,4 %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+42,2 %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Buenavista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+38,5 %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c>
                  <a:txBody>
                    <a:bodyPr/>
                    <a:lstStyle/>
                    <a:p>
                      <a:pPr algn="r" indent="0" marL="0">
                        <a:lnSpc>
                          <a:spcPts val="1820"/>
                        </a:lnSpc>
                        <a:buNone/>
                      </a:pPr>
                      <a:r>
                        <a:rPr lang="en-US" sz="1300" dirty="0">
                          <a:solidFill>
                            <a:srgbClr val="131313"/>
                          </a:solidFill>
                          <a:latin typeface="IBM Plex Sans" pitchFamily="34" charset="0"/>
                          <a:ea typeface="IBM Plex Sans" pitchFamily="34" charset="-122"/>
                          <a:cs typeface="IBM Plex Sans" pitchFamily="34" charset="-120"/>
                        </a:rPr>
                        <a:t>+75,0 %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C0BFBC"/>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C0BFBC"/>
                      </a:solidFill>
                      <a:prstDash val="solid"/>
                      <a:round/>
                      <a:headEnd type="none" w="med" len="med"/>
                      <a:tailEnd type="none" w="med" len="med"/>
                    </a:lnB>
                  </a:tcPr>
                </a:tc>
              </a:tr>
              <a:tr h="359271">
                <a:tc>
                  <a:txBody>
                    <a:bodyPr/>
                    <a:lstStyle/>
                    <a:p>
                      <a:pPr indent="0" marL="0">
                        <a:lnSpc>
                          <a:spcPts val="1820"/>
                        </a:lnSpc>
                        <a:buNone/>
                      </a:pPr>
                      <a:r>
                        <a:rPr lang="en-US" sz="1300" dirty="0">
                          <a:solidFill>
                            <a:srgbClr val="FBFAF8"/>
                          </a:solidFill>
                          <a:latin typeface="IBM Plex Sans" pitchFamily="34" charset="0"/>
                          <a:ea typeface="IBM Plex Sans" pitchFamily="34" charset="-122"/>
                          <a:cs typeface="IBM Plex Sans" pitchFamily="34" charset="-120"/>
                        </a:rPr>
                        <a:t>Media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FBC"/>
                      </a:solidFill>
                      <a:prstDash val="solid"/>
                      <a:round/>
                      <a:headEnd type="none" w="med" len="med"/>
                      <a:tailEnd type="none" w="med" len="med"/>
                    </a:lnL>
                    <a:lnR w="12700" cap="flat" cmpd="sng" algn="ctr">
                      <a:solidFill>
                        <a:srgbClr val="131313"/>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131313"/>
                      </a:solidFill>
                      <a:prstDash val="solid"/>
                      <a:round/>
                      <a:headEnd type="none" w="med" len="med"/>
                      <a:tailEnd type="none" w="med" len="med"/>
                    </a:lnB>
                    <a:solidFill>
                      <a:srgbClr val="131313"/>
                    </a:solidFill>
                  </a:tcPr>
                </a:tc>
                <a:tc>
                  <a:txBody>
                    <a:bodyPr/>
                    <a:lstStyle/>
                    <a:p>
                      <a:pPr algn="r" indent="0" marL="0">
                        <a:lnSpc>
                          <a:spcPts val="1820"/>
                        </a:lnSpc>
                        <a:buNone/>
                      </a:pPr>
                      <a:r>
                        <a:rPr lang="en-US" sz="1300" dirty="0">
                          <a:solidFill>
                            <a:srgbClr val="FF8094"/>
                          </a:solidFill>
                          <a:latin typeface="IBM Plex Sans" pitchFamily="34" charset="0"/>
                          <a:ea typeface="IBM Plex Sans" pitchFamily="34" charset="-122"/>
                          <a:cs typeface="IBM Plex Sans" pitchFamily="34" charset="-120"/>
                        </a:rPr>
                        <a:t>19 %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1313"/>
                      </a:solidFill>
                      <a:prstDash val="solid"/>
                      <a:round/>
                      <a:headEnd type="none" w="med" len="med"/>
                      <a:tailEnd type="none" w="med" len="med"/>
                    </a:lnL>
                    <a:lnR w="12700" cap="flat" cmpd="sng" algn="ctr">
                      <a:solidFill>
                        <a:srgbClr val="131313"/>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131313"/>
                      </a:solidFill>
                      <a:prstDash val="solid"/>
                      <a:round/>
                      <a:headEnd type="none" w="med" len="med"/>
                      <a:tailEnd type="none" w="med" len="med"/>
                    </a:lnB>
                    <a:solidFill>
                      <a:srgbClr val="131313"/>
                    </a:solidFill>
                  </a:tcPr>
                </a:tc>
                <a:tc>
                  <a:txBody>
                    <a:bodyPr/>
                    <a:lstStyle/>
                    <a:p>
                      <a:pPr algn="r" indent="0" marL="0">
                        <a:lnSpc>
                          <a:spcPts val="1820"/>
                        </a:lnSpc>
                        <a:buNone/>
                      </a:pPr>
                      <a:r>
                        <a:rPr lang="en-US" sz="1300" dirty="0">
                          <a:solidFill>
                            <a:srgbClr val="FBFAF8"/>
                          </a:solidFill>
                          <a:latin typeface="IBM Plex Sans" pitchFamily="34" charset="0"/>
                          <a:ea typeface="IBM Plex Sans" pitchFamily="34" charset="-122"/>
                          <a:cs typeface="IBM Plex Sans" pitchFamily="34" charset="-120"/>
                        </a:rPr>
                        <a:t>39 %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1313"/>
                      </a:solidFill>
                      <a:prstDash val="solid"/>
                      <a:round/>
                      <a:headEnd type="none" w="med" len="med"/>
                      <a:tailEnd type="none" w="med" len="med"/>
                    </a:lnL>
                    <a:lnR w="12700" cap="flat" cmpd="sng" algn="ctr">
                      <a:solidFill>
                        <a:srgbClr val="131313"/>
                      </a:solidFill>
                      <a:prstDash val="solid"/>
                      <a:round/>
                      <a:headEnd type="none" w="med" len="med"/>
                      <a:tailEnd type="none" w="med" len="med"/>
                    </a:lnR>
                    <a:lnT w="12700" cap="flat" cmpd="sng" algn="ctr">
                      <a:solidFill>
                        <a:srgbClr val="C0BFBC"/>
                      </a:solidFill>
                      <a:prstDash val="solid"/>
                      <a:round/>
                      <a:headEnd type="none" w="med" len="med"/>
                      <a:tailEnd type="none" w="med" len="med"/>
                    </a:lnT>
                    <a:lnB w="12700" cap="flat" cmpd="sng" algn="ctr">
                      <a:solidFill>
                        <a:srgbClr val="131313"/>
                      </a:solidFill>
                      <a:prstDash val="solid"/>
                      <a:round/>
                      <a:headEnd type="none" w="med" len="med"/>
                      <a:tailEnd type="none" w="med" len="med"/>
                    </a:lnB>
                    <a:solidFill>
                      <a:srgbClr val="131313"/>
                    </a:solidFill>
                  </a:tcPr>
                </a:tc>
              </a:tr>
            </a:tbl>
          </a:graphicData>
        </a:graphic>
      </p:graphicFrame>
      <p:sp>
        <p:nvSpPr>
          <p:cNvPr id="8" name="Text 5"/>
          <p:cNvSpPr/>
          <p:nvPr/>
        </p:nvSpPr>
        <p:spPr>
          <a:xfrm>
            <a:off x="6146800" y="4492823"/>
            <a:ext cx="53893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44"/>
                </a:solidFill>
                <a:latin typeface="IBM Plex Sans" pitchFamily="34" charset="0"/>
                <a:ea typeface="IBM Plex Sans" pitchFamily="34" charset="-122"/>
                <a:cs typeface="IBM Plex Sans" pitchFamily="34" charset="-120"/>
              </a:rPr>
              <a:t>Cada barrio se predice sin mirar sus propios datos y se compara con el padrón real (INE 2023).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CÓMO FUNCIONA · 5. EL RANKING DE «¿DÓNDE VIVIR?»</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Nada es opinión: cada criterio es un dato</a:t>
            </a:r>
            <a:endParaRPr lang="en-US" sz="3600" dirty="0"/>
          </a:p>
        </p:txBody>
      </p:sp>
      <p:sp>
        <p:nvSpPr>
          <p:cNvPr id="4" name="Text 2"/>
          <p:cNvSpPr/>
          <p:nvPr/>
        </p:nvSpPr>
        <p:spPr>
          <a:xfrm>
            <a:off x="812800" y="1926233"/>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Comparar con los demás</a:t>
            </a:r>
            <a:endParaRPr lang="en-US" sz="1600" dirty="0"/>
          </a:p>
        </p:txBody>
      </p:sp>
      <p:sp>
        <p:nvSpPr>
          <p:cNvPr id="5" name="Text 3"/>
          <p:cNvSpPr/>
          <p:nvPr/>
        </p:nvSpPr>
        <p:spPr>
          <a:xfrm>
            <a:off x="812800" y="2246213"/>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En cada criterio el mejor saca 100 y el peor 0. La coincidencia es la media: todos pesan igual.</a:t>
            </a:r>
            <a:endParaRPr lang="en-US" sz="1400" dirty="0"/>
          </a:p>
        </p:txBody>
      </p:sp>
      <p:sp>
        <p:nvSpPr>
          <p:cNvPr id="6" name="Text 4"/>
          <p:cNvSpPr/>
          <p:nvPr/>
        </p:nvSpPr>
        <p:spPr>
          <a:xfrm>
            <a:off x="6096000" y="1926233"/>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Servicios: oferta y suficiencia</a:t>
            </a:r>
            <a:endParaRPr lang="en-US" sz="1600" dirty="0"/>
          </a:p>
        </p:txBody>
      </p:sp>
      <p:sp>
        <p:nvSpPr>
          <p:cNvPr id="7" name="Text 5"/>
          <p:cNvSpPr/>
          <p:nvPr/>
        </p:nvSpPr>
        <p:spPr>
          <a:xfrm>
            <a:off x="6096000" y="2246213"/>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60 % cuántos hay para elegir, 40 % que haya los normales para su población. Si no hay ninguno, 0.</a:t>
            </a:r>
            <a:endParaRPr lang="en-US" sz="1400" dirty="0"/>
          </a:p>
        </p:txBody>
      </p:sp>
      <p:sp>
        <p:nvSpPr>
          <p:cNvPr id="8" name="Text 6"/>
          <p:cNvSpPr/>
          <p:nvPr/>
        </p:nvSpPr>
        <p:spPr>
          <a:xfrm>
            <a:off x="812800" y="2743895"/>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«Trabajo en Madrid» es conexión</a:t>
            </a:r>
            <a:endParaRPr lang="en-US" sz="1600" dirty="0"/>
          </a:p>
        </p:txBody>
      </p:sp>
      <p:sp>
        <p:nvSpPr>
          <p:cNvPr id="9" name="Text 7"/>
          <p:cNvSpPr/>
          <p:nvPr/>
        </p:nvSpPr>
        <p:spPr>
          <a:xfrm>
            <a:off x="812800" y="3063875"/>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Tren o Metro hasta Madrid, autobuses directos y zona del abono. No premia estar cerca.</a:t>
            </a:r>
            <a:endParaRPr lang="en-US" sz="1400" dirty="0"/>
          </a:p>
        </p:txBody>
      </p:sp>
      <p:sp>
        <p:nvSpPr>
          <p:cNvPr id="10" name="Text 8"/>
          <p:cNvSpPr/>
          <p:nvPr/>
        </p:nvSpPr>
        <p:spPr>
          <a:xfrm>
            <a:off x="6096000" y="2743895"/>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Sin datos no es lo peor</a:t>
            </a:r>
            <a:endParaRPr lang="en-US" sz="1600" dirty="0"/>
          </a:p>
        </p:txBody>
      </p:sp>
      <p:sp>
        <p:nvSpPr>
          <p:cNvPr id="11" name="Text 9"/>
          <p:cNvSpPr/>
          <p:nvPr/>
        </p:nvSpPr>
        <p:spPr>
          <a:xfrm>
            <a:off x="6096000" y="3063875"/>
            <a:ext cx="60960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Un municipio sin dato sale en gris y fuera del ranking, no el último.</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25 criterios, cada uno con su fuente a la vista en la web. Con un solo servicio marcado, el mapa enseña dónde hay y cuántos.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F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CÓMO FUNCIONA · 6. PLANIFICAR</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Cuántos, dónde, cuándo y si aguanta</a:t>
            </a:r>
            <a:endParaRPr lang="en-US" sz="3600" dirty="0"/>
          </a:p>
        </p:txBody>
      </p:sp>
      <p:sp>
        <p:nvSpPr>
          <p:cNvPr id="4" name="Shape 2"/>
          <p:cNvSpPr/>
          <p:nvPr/>
        </p:nvSpPr>
        <p:spPr>
          <a:xfrm>
            <a:off x="815975" y="1929408"/>
            <a:ext cx="3380284" cy="1938933"/>
          </a:xfrm>
          <a:prstGeom prst="roundRect">
            <a:avLst>
              <a:gd name="adj" fmla="val 5076"/>
            </a:avLst>
          </a:prstGeom>
          <a:solidFill>
            <a:srgbClr val="FFFFFF"/>
          </a:solidFill>
          <a:ln w="6350">
            <a:solidFill>
              <a:srgbClr val="D9D5D0"/>
            </a:solidFill>
            <a:prstDash val="solid"/>
          </a:ln>
        </p:spPr>
      </p:sp>
      <p:sp>
        <p:nvSpPr>
          <p:cNvPr id="5" name="Text 3"/>
          <p:cNvSpPr/>
          <p:nvPr/>
        </p:nvSpPr>
        <p:spPr>
          <a:xfrm>
            <a:off x="1047750" y="2161183"/>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Dónde</a:t>
            </a:r>
            <a:endParaRPr lang="en-US" sz="1600" dirty="0"/>
          </a:p>
        </p:txBody>
      </p:sp>
      <p:sp>
        <p:nvSpPr>
          <p:cNvPr id="6" name="Text 4"/>
          <p:cNvSpPr/>
          <p:nvPr/>
        </p:nvSpPr>
        <p:spPr>
          <a:xfrm>
            <a:off x="1047750" y="2481163"/>
            <a:ext cx="3004236"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44"/>
                </a:solidFill>
                <a:latin typeface="IBM Plex Sans" pitchFamily="34" charset="0"/>
                <a:ea typeface="IBM Plex Sans" pitchFamily="34" charset="-122"/>
                <a:cs typeface="IBM Plex Sans" pitchFamily="34" charset="-120"/>
              </a:rPr>
              <a:t>Algoritmo de cobertura máxima con capacidad: elige parcelas vacantes de equipamiento que atiendan a más gente a pie, descontando los centros que ya hay.</a:t>
            </a:r>
            <a:endParaRPr lang="en-US" sz="1300" dirty="0"/>
          </a:p>
        </p:txBody>
      </p:sp>
      <p:sp>
        <p:nvSpPr>
          <p:cNvPr id="7" name="Shape 5"/>
          <p:cNvSpPr/>
          <p:nvPr/>
        </p:nvSpPr>
        <p:spPr>
          <a:xfrm>
            <a:off x="4405809" y="1929408"/>
            <a:ext cx="3380383" cy="1938933"/>
          </a:xfrm>
          <a:prstGeom prst="roundRect">
            <a:avLst>
              <a:gd name="adj" fmla="val 5076"/>
            </a:avLst>
          </a:prstGeom>
          <a:solidFill>
            <a:srgbClr val="FFFFFF"/>
          </a:solidFill>
          <a:ln w="6350">
            <a:solidFill>
              <a:srgbClr val="D9D5D0"/>
            </a:solidFill>
            <a:prstDash val="solid"/>
          </a:ln>
        </p:spPr>
      </p:sp>
      <p:sp>
        <p:nvSpPr>
          <p:cNvPr id="8" name="Text 6"/>
          <p:cNvSpPr/>
          <p:nvPr/>
        </p:nvSpPr>
        <p:spPr>
          <a:xfrm>
            <a:off x="4637584" y="2161183"/>
            <a:ext cx="30043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Cuándo</a:t>
            </a:r>
            <a:endParaRPr lang="en-US" sz="1600" dirty="0"/>
          </a:p>
        </p:txBody>
      </p:sp>
      <p:sp>
        <p:nvSpPr>
          <p:cNvPr id="9" name="Text 7"/>
          <p:cNvSpPr/>
          <p:nvPr/>
        </p:nvSpPr>
        <p:spPr>
          <a:xfrm>
            <a:off x="4637584" y="2481163"/>
            <a:ext cx="300433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44"/>
                </a:solidFill>
                <a:latin typeface="IBM Plex Sans" pitchFamily="34" charset="0"/>
                <a:ea typeface="IBM Plex Sans" pitchFamily="34" charset="-122"/>
                <a:cs typeface="IBM Plex Sans" pitchFamily="34" charset="-120"/>
              </a:rPr>
              <a:t>Lo repite año a año, de 2025 a 2040, según se llenan los barrios: «ya hoy», «en 2029»…</a:t>
            </a:r>
            <a:endParaRPr lang="en-US" sz="1300" dirty="0"/>
          </a:p>
        </p:txBody>
      </p:sp>
      <p:sp>
        <p:nvSpPr>
          <p:cNvPr id="10" name="Shape 8"/>
          <p:cNvSpPr/>
          <p:nvPr/>
        </p:nvSpPr>
        <p:spPr>
          <a:xfrm>
            <a:off x="7995741" y="1929408"/>
            <a:ext cx="3380284" cy="1938933"/>
          </a:xfrm>
          <a:prstGeom prst="roundRect">
            <a:avLst>
              <a:gd name="adj" fmla="val 5076"/>
            </a:avLst>
          </a:prstGeom>
          <a:solidFill>
            <a:srgbClr val="FFFFFF"/>
          </a:solidFill>
          <a:ln w="6350">
            <a:solidFill>
              <a:srgbClr val="D9D5D0"/>
            </a:solidFill>
            <a:prstDash val="solid"/>
          </a:ln>
        </p:spPr>
      </p:sp>
      <p:sp>
        <p:nvSpPr>
          <p:cNvPr id="11" name="Text 9"/>
          <p:cNvSpPr/>
          <p:nvPr/>
        </p:nvSpPr>
        <p:spPr>
          <a:xfrm>
            <a:off x="8227516" y="2161183"/>
            <a:ext cx="30042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Si aguanta</a:t>
            </a:r>
            <a:endParaRPr lang="en-US" sz="1600" dirty="0"/>
          </a:p>
        </p:txBody>
      </p:sp>
      <p:sp>
        <p:nvSpPr>
          <p:cNvPr id="12" name="Text 10"/>
          <p:cNvSpPr/>
          <p:nvPr/>
        </p:nvSpPr>
        <p:spPr>
          <a:xfrm>
            <a:off x="8227516" y="2481163"/>
            <a:ext cx="300423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44"/>
                </a:solidFill>
                <a:latin typeface="IBM Plex Sans" pitchFamily="34" charset="0"/>
                <a:ea typeface="IBM Plex Sans" pitchFamily="34" charset="-122"/>
                <a:cs typeface="IBM Plex Sans" pitchFamily="34" charset="-120"/>
              </a:rPr>
              <a:t>Vuelve a calcular con menos viviendas y tres años de retraso: marca qué propuestas se mantienen.</a:t>
            </a:r>
            <a:endParaRPr lang="en-US" sz="1300" dirty="0"/>
          </a:p>
        </p:txBody>
      </p:sp>
      <p:sp>
        <p:nvSpPr>
          <p:cNvPr id="13" name="Text 11"/>
          <p:cNvSpPr/>
          <p:nvPr/>
        </p:nvSpPr>
        <p:spPr>
          <a:xfrm>
            <a:off x="812800" y="4176316"/>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Un centro nuevo solo se propone si llena al menos el 30 %. Si lo que falta está repartido, se dice: «basta con ampliar los que hay». Las residencias se calculan para todo el municipio, frente a la media de la Comunidad (4,3 plazas por cada 100 mayores).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1518047"/>
            <a:ext cx="3454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CÓMO FUNCIONA · 7. LO QUE VIENE</a:t>
            </a:r>
            <a:endParaRPr lang="en-US" sz="1200" dirty="0"/>
          </a:p>
        </p:txBody>
      </p:sp>
      <p:sp>
        <p:nvSpPr>
          <p:cNvPr id="3" name="Text 1"/>
          <p:cNvSpPr/>
          <p:nvPr>
            <p:ph type="title"/>
          </p:nvPr>
        </p:nvSpPr>
        <p:spPr>
          <a:xfrm>
            <a:off x="812800" y="1909167"/>
            <a:ext cx="3139440" cy="1012825"/>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Dónde se va a construir</a:t>
            </a:r>
            <a:endParaRPr lang="en-US" sz="3600" dirty="0"/>
          </a:p>
        </p:txBody>
      </p:sp>
      <p:sp>
        <p:nvSpPr>
          <p:cNvPr id="4" name="Text 2"/>
          <p:cNvSpPr/>
          <p:nvPr/>
        </p:nvSpPr>
        <p:spPr>
          <a:xfrm>
            <a:off x="812800" y="3074392"/>
            <a:ext cx="313944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4744"/>
                </a:solidFill>
                <a:latin typeface="IBM Plex Sans" pitchFamily="34" charset="0"/>
                <a:ea typeface="IBM Plex Sans" pitchFamily="34" charset="-122"/>
                <a:cs typeface="IBM Plex Sans" pitchFamily="34" charset="-120"/>
              </a:rPr>
              <a:t>53.543</a:t>
            </a:r>
            <a:r>
              <a:rPr lang="en-US" sz="1600" dirty="0">
                <a:solidFill>
                  <a:srgbClr val="4A4744"/>
                </a:solidFill>
                <a:latin typeface="IBM Plex Sans" pitchFamily="34" charset="0"/>
                <a:ea typeface="IBM Plex Sans" pitchFamily="34" charset="-122"/>
                <a:cs typeface="IBM Plex Sans" pitchFamily="34" charset="-120"/>
              </a:rPr>
              <a:t> solares para vivienda sin construir, del catastro.</a:t>
            </a:r>
            <a:endParaRPr lang="en-US" sz="1600" dirty="0"/>
          </a:p>
        </p:txBody>
      </p:sp>
      <p:sp>
        <p:nvSpPr>
          <p:cNvPr id="5" name="Text 3"/>
          <p:cNvSpPr/>
          <p:nvPr/>
        </p:nvSpPr>
        <p:spPr>
          <a:xfrm>
            <a:off x="812800" y="3821113"/>
            <a:ext cx="313944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4744"/>
                </a:solidFill>
                <a:latin typeface="IBM Plex Sans" pitchFamily="34" charset="0"/>
                <a:ea typeface="IBM Plex Sans" pitchFamily="34" charset="-122"/>
                <a:cs typeface="IBM Plex Sans" pitchFamily="34" charset="-120"/>
              </a:rPr>
              <a:t>251</a:t>
            </a:r>
            <a:r>
              <a:rPr lang="en-US" sz="1600" dirty="0">
                <a:solidFill>
                  <a:srgbClr val="4A4744"/>
                </a:solidFill>
                <a:latin typeface="IBM Plex Sans" pitchFamily="34" charset="0"/>
                <a:ea typeface="IBM Plex Sans" pitchFamily="34" charset="-122"/>
                <a:cs typeface="IBM Plex Sans" pitchFamily="34" charset="-120"/>
              </a:rPr>
              <a:t> parcelas públicas en venta para vivienda.</a:t>
            </a:r>
            <a:endParaRPr lang="en-US" sz="1600" dirty="0"/>
          </a:p>
        </p:txBody>
      </p:sp>
      <p:sp>
        <p:nvSpPr>
          <p:cNvPr id="6" name="Text 4"/>
          <p:cNvSpPr/>
          <p:nvPr/>
        </p:nvSpPr>
        <p:spPr>
          <a:xfrm>
            <a:off x="812800" y="4567833"/>
            <a:ext cx="313944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44"/>
                </a:solidFill>
                <a:latin typeface="IBM Plex Sans" pitchFamily="34" charset="0"/>
                <a:ea typeface="IBM Plex Sans" pitchFamily="34" charset="-122"/>
                <a:cs typeface="IBM Plex Sans" pitchFamily="34" charset="-120"/>
              </a:rPr>
              <a:t>También donde no hay plan refundido, como Boadilla.</a:t>
            </a:r>
            <a:endParaRPr lang="en-US" sz="1600" dirty="0"/>
          </a:p>
        </p:txBody>
      </p:sp>
      <p:sp>
        <p:nvSpPr>
          <p:cNvPr id="7" name="Shape 5"/>
          <p:cNvSpPr/>
          <p:nvPr/>
        </p:nvSpPr>
        <p:spPr>
          <a:xfrm>
            <a:off x="4267200" y="1327150"/>
            <a:ext cx="7112000" cy="4000500"/>
          </a:xfrm>
          <a:prstGeom prst="roundRect">
            <a:avLst>
              <a:gd name="adj" fmla="val 1905"/>
            </a:avLst>
          </a:prstGeom>
          <a:solidFill>
            <a:srgbClr val="ECE9E5"/>
          </a:solidFill>
          <a:ln/>
        </p:spPr>
      </p:sp>
      <p:pic>
        <p:nvPicPr>
          <p:cNvPr id="8" name="Image 0" descr="Barrios en Boadilla del Monte: servicios que ya existen en negro y solares para vivienda sin construir en naranja">    </p:cNvPr>
          <p:cNvPicPr>
            <a:picLocks noChangeAspect="1"/>
          </p:cNvPicPr>
          <p:nvPr/>
        </p:nvPicPr>
        <p:blipFill>
          <a:blip r:embed="rId1"/>
          <a:srcRect l="-70" r="-70" t="0" b="0"/>
          <a:stretch/>
        </p:blipFill>
        <p:spPr>
          <a:xfrm>
            <a:off x="4273550" y="1333500"/>
            <a:ext cx="7099300" cy="3987800"/>
          </a:xfrm>
          <a:prstGeom prst="roundRect">
            <a:avLst>
              <a:gd name="adj" fmla="val 1752"/>
            </a:avLst>
          </a:prstGeom>
        </p:spPr>
      </p:pic>
      <p:sp>
        <p:nvSpPr>
          <p:cNvPr id="9" name="Shape 6"/>
          <p:cNvSpPr/>
          <p:nvPr/>
        </p:nvSpPr>
        <p:spPr>
          <a:xfrm>
            <a:off x="4270375" y="1330325"/>
            <a:ext cx="7105650" cy="3994150"/>
          </a:xfrm>
          <a:prstGeom prst="roundRect">
            <a:avLst>
              <a:gd name="adj" fmla="val 1828"/>
            </a:avLst>
          </a:prstGeom>
          <a:noFill/>
          <a:ln w="6350">
            <a:solidFill>
              <a:srgbClr val="D9D5D0"/>
            </a:solidFill>
            <a:prstDash val="solid"/>
          </a:ln>
        </p:spPr>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Fuentes: IDEM, suelo vacante y ocupado 2026; Portal del Suelo de la Comunidad de Madrid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13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094"/>
                </a:solidFill>
                <a:latin typeface="IBM Plex Sans" pitchFamily="34" charset="0"/>
                <a:ea typeface="IBM Plex Sans" pitchFamily="34" charset="-122"/>
                <a:cs typeface="IBM Plex Sans" pitchFamily="34" charset="-120"/>
              </a:rPr>
              <a:t>POR QUÉ ES DISTINTO</a:t>
            </a:r>
            <a:endParaRPr lang="en-US" sz="1200" dirty="0"/>
          </a:p>
        </p:txBody>
      </p:sp>
      <p:sp>
        <p:nvSpPr>
          <p:cNvPr id="3" name="Text 1"/>
          <p:cNvSpPr/>
          <p:nvPr>
            <p:ph type="title"/>
          </p:nvPr>
        </p:nvSpPr>
        <p:spPr>
          <a:xfrm>
            <a:off x="812800" y="1127720"/>
            <a:ext cx="10883392" cy="153392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BFAF8"/>
                </a:solidFill>
                <a:latin typeface="IBM Plex Sans" pitchFamily="34" charset="0"/>
                <a:ea typeface="IBM Plex Sans" pitchFamily="34" charset="-122"/>
                <a:cs typeface="IBM Plex Sans" pitchFamily="34" charset="-120"/>
              </a:rPr>
              <a:t>Los demás te dicen dónde vivir hoy.</a:t>
            </a:r>
            <a:endParaRPr lang="en-US" sz="3600" dirty="0"/>
          </a:p>
          <a:p>
            <a:pPr algn="l" indent="0" marL="0">
              <a:lnSpc>
                <a:spcPts val="3960"/>
              </a:lnSpc>
              <a:buNone/>
            </a:pPr>
            <a:r>
              <a:rPr lang="en-US" sz="3600" b="1" i="0" dirty="0">
                <a:solidFill>
                  <a:srgbClr val="FF5470"/>
                </a:solidFill>
                <a:latin typeface="IBM Plex Sans" pitchFamily="34" charset="0"/>
                <a:ea typeface="IBM Plex Sans" pitchFamily="34" charset="-122"/>
                <a:cs typeface="IBM Plex Sans" pitchFamily="34" charset="-120"/>
              </a:rPr>
              <a:t>Cuna y Canas te dice qué va a faltar mañana, y dónde ponerlo.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3004542"/>
          <a:ext cx="10553700" cy="1929805"/>
        </p:xfrm>
        <a:graphic>
          <a:graphicData uri="http://schemas.openxmlformats.org/drawingml/2006/table">
            <a:tbl>
              <a:tblPr/>
              <a:tblGrid>
                <a:gridCol w="5487924"/>
                <a:gridCol w="2532888"/>
                <a:gridCol w="2532888"/>
              </a:tblGrid>
              <a:tr h="38596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545453"/>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545453"/>
                      </a:solidFill>
                      <a:prstDash val="solid"/>
                      <a:round/>
                      <a:headEnd type="none" w="med" len="med"/>
                      <a:tailEnd type="none" w="med" len="med"/>
                    </a:lnB>
                    <a:solidFill>
                      <a:srgbClr val="252525"/>
                    </a:solidFill>
                  </a:tcPr>
                </a:tc>
                <a:tc>
                  <a:txBody>
                    <a:bodyPr/>
                    <a:lstStyle/>
                    <a:p>
                      <a:pPr algn="ctr" indent="0" marL="0">
                        <a:lnSpc>
                          <a:spcPts val="1960"/>
                        </a:lnSpc>
                        <a:buNone/>
                      </a:pPr>
                      <a:r>
                        <a:rPr lang="en-US" sz="1400" b="1" dirty="0">
                          <a:solidFill>
                            <a:srgbClr val="FBFAF8"/>
                          </a:solidFill>
                          <a:latin typeface="IBM Plex Sans" pitchFamily="34" charset="0"/>
                          <a:ea typeface="IBM Plex Sans" pitchFamily="34" charset="-122"/>
                          <a:cs typeface="IBM Plex Sans" pitchFamily="34" charset="-120"/>
                        </a:rPr>
                        <a:t>Comparadores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45453"/>
                      </a:solidFill>
                      <a:prstDash val="solid"/>
                      <a:round/>
                      <a:headEnd type="none" w="med" len="med"/>
                      <a:tailEnd type="none" w="med" len="med"/>
                    </a:lnL>
                    <a:lnR w="12700" cap="flat" cmpd="sng" algn="ctr">
                      <a:solidFill>
                        <a:srgbClr val="545453"/>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545453"/>
                      </a:solidFill>
                      <a:prstDash val="solid"/>
                      <a:round/>
                      <a:headEnd type="none" w="med" len="med"/>
                      <a:tailEnd type="none" w="med" len="med"/>
                    </a:lnB>
                    <a:solidFill>
                      <a:srgbClr val="252525"/>
                    </a:solidFill>
                  </a:tcPr>
                </a:tc>
                <a:tc>
                  <a:txBody>
                    <a:bodyPr/>
                    <a:lstStyle/>
                    <a:p>
                      <a:pPr algn="ctr" indent="0" marL="0">
                        <a:lnSpc>
                          <a:spcPts val="1960"/>
                        </a:lnSpc>
                        <a:buNone/>
                      </a:pPr>
                      <a:r>
                        <a:rPr lang="en-US" sz="1400" b="1" dirty="0">
                          <a:solidFill>
                            <a:srgbClr val="FBFAF8"/>
                          </a:solidFill>
                          <a:latin typeface="IBM Plex Sans" pitchFamily="34" charset="0"/>
                          <a:ea typeface="IBM Plex Sans" pitchFamily="34" charset="-122"/>
                          <a:cs typeface="IBM Plex Sans" pitchFamily="34" charset="-120"/>
                        </a:rPr>
                        <a:t>Cuna y Canas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45453"/>
                      </a:solidFill>
                      <a:prstDash val="solid"/>
                      <a:round/>
                      <a:headEnd type="none" w="med" len="med"/>
                      <a:tailEnd type="none" w="med" len="med"/>
                    </a:lnL>
                    <a:lnR w="12700" cap="flat" cmpd="sng" algn="ctr">
                      <a:solidFill>
                        <a:srgbClr val="545453"/>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545453"/>
                      </a:solidFill>
                      <a:prstDash val="solid"/>
                      <a:round/>
                      <a:headEnd type="none" w="med" len="med"/>
                      <a:tailEnd type="none" w="med" len="med"/>
                    </a:lnB>
                    <a:solidFill>
                      <a:srgbClr val="252525"/>
                    </a:solidFill>
                  </a:tcPr>
                </a:tc>
              </a:tr>
              <a:tr h="385961">
                <a:tc>
                  <a:txBody>
                    <a:bodyPr/>
                    <a:lstStyle/>
                    <a:p>
                      <a:pP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Lo que hay hoy en cada municipio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545453"/>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545453"/>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545453"/>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r>
              <a:tr h="385961">
                <a:tc>
                  <a:txBody>
                    <a:bodyPr/>
                    <a:lstStyle/>
                    <a:p>
                      <a:pP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Población que va a llegar, con rango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r>
              <a:tr h="385961">
                <a:tc>
                  <a:txBody>
                    <a:bodyPr/>
                    <a:lstStyle/>
                    <a:p>
                      <a:pP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Suelo público libre para los servicios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r>
              <a:tr h="385961">
                <a:tc>
                  <a:txBody>
                    <a:bodyPr/>
                    <a:lstStyle/>
                    <a:p>
                      <a:pP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Dónde, cuándo y si aguanta la decisión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c>
                  <a:txBody>
                    <a:bodyPr/>
                    <a:lstStyle/>
                    <a:p>
                      <a:pPr algn="ctr" indent="0" marL="0">
                        <a:lnSpc>
                          <a:spcPts val="1960"/>
                        </a:lnSpc>
                        <a:buNone/>
                      </a:pPr>
                      <a:r>
                        <a:rPr lang="en-US" sz="1400" dirty="0">
                          <a:solidFill>
                            <a:srgbClr val="FBFAF8"/>
                          </a:solidFill>
                          <a:latin typeface="IBM Plex Sans" pitchFamily="34" charset="0"/>
                          <a:ea typeface="IBM Plex Sans" pitchFamily="34" charset="-122"/>
                          <a:cs typeface="IBM Plex Sans" pitchFamily="34" charset="-120"/>
                        </a:rPr>
                        <a:t>Sí</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64645"/>
                      </a:solidFill>
                      <a:prstDash val="solid"/>
                      <a:round/>
                      <a:headEnd type="none" w="med" len="med"/>
                      <a:tailEnd type="none" w="med" len="med"/>
                    </a:lnL>
                    <a:lnR w="12700" cap="flat" cmpd="sng" algn="ctr">
                      <a:solidFill>
                        <a:srgbClr val="464645"/>
                      </a:solidFill>
                      <a:prstDash val="solid"/>
                      <a:round/>
                      <a:headEnd type="none" w="med" len="med"/>
                      <a:tailEnd type="none" w="med" len="med"/>
                    </a:lnR>
                    <a:lnT w="12700" cap="flat" cmpd="sng" algn="ctr">
                      <a:solidFill>
                        <a:srgbClr val="464645"/>
                      </a:solidFill>
                      <a:prstDash val="solid"/>
                      <a:round/>
                      <a:headEnd type="none" w="med" len="med"/>
                      <a:tailEnd type="none" w="med" len="med"/>
                    </a:lnT>
                    <a:lnB w="12700" cap="flat" cmpd="sng" algn="ctr">
                      <a:solidFill>
                        <a:srgbClr val="464645"/>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0024"/>
                </a:solidFill>
                <a:latin typeface="IBM Plex Sans" pitchFamily="34" charset="0"/>
                <a:ea typeface="IBM Plex Sans" pitchFamily="34" charset="-122"/>
                <a:cs typeface="IBM Plex Sans" pitchFamily="34" charset="-120"/>
              </a:rPr>
              <a:t>LISTO PARA USARSE</a:t>
            </a:r>
            <a:endParaRPr lang="en-US" sz="1200" dirty="0"/>
          </a:p>
        </p:txBody>
      </p:sp>
      <p:sp>
        <p:nvSpPr>
          <p:cNvPr id="3" name="Text 1"/>
          <p:cNvSpPr/>
          <p:nvPr>
            <p:ph type="title"/>
          </p:nvPr>
        </p:nvSpPr>
        <p:spPr>
          <a:xfrm>
            <a:off x="812800" y="11277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i="0" dirty="0">
                <a:solidFill>
                  <a:srgbClr val="131313"/>
                </a:solidFill>
                <a:latin typeface="IBM Plex Sans" pitchFamily="34" charset="0"/>
                <a:ea typeface="IBM Plex Sans" pitchFamily="34" charset="-122"/>
                <a:cs typeface="IBM Plex Sans" pitchFamily="34" charset="-120"/>
              </a:rPr>
              <a:t>Publicado, abierto y sin coste</a:t>
            </a:r>
            <a:endParaRPr lang="en-US" sz="3600" dirty="0"/>
          </a:p>
        </p:txBody>
      </p:sp>
      <p:sp>
        <p:nvSpPr>
          <p:cNvPr id="4" name="Shape 2"/>
          <p:cNvSpPr/>
          <p:nvPr/>
        </p:nvSpPr>
        <p:spPr>
          <a:xfrm>
            <a:off x="812800" y="1989733"/>
            <a:ext cx="5283200" cy="0"/>
          </a:xfrm>
          <a:prstGeom prst="line">
            <a:avLst/>
          </a:prstGeom>
          <a:noFill/>
          <a:ln w="25400">
            <a:solidFill>
              <a:srgbClr val="131313"/>
            </a:solidFill>
            <a:prstDash val="solid"/>
          </a:ln>
        </p:spPr>
      </p:sp>
      <p:sp>
        <p:nvSpPr>
          <p:cNvPr id="5" name="Text 3"/>
          <p:cNvSpPr/>
          <p:nvPr/>
        </p:nvSpPr>
        <p:spPr>
          <a:xfrm>
            <a:off x="812800" y="2154833"/>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En Oracle Cloud</a:t>
            </a:r>
            <a:endParaRPr lang="en-US" sz="1600" dirty="0"/>
          </a:p>
        </p:txBody>
      </p:sp>
      <p:sp>
        <p:nvSpPr>
          <p:cNvPr id="6" name="Text 4"/>
          <p:cNvSpPr/>
          <p:nvPr/>
        </p:nvSpPr>
        <p:spPr>
          <a:xfrm>
            <a:off x="812800" y="2474813"/>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Web estática en Object Storage, con HTTPS y en la capa gratuita. Se actualiza con un comando.</a:t>
            </a:r>
            <a:endParaRPr lang="en-US" sz="1400" dirty="0"/>
          </a:p>
        </p:txBody>
      </p:sp>
      <p:sp>
        <p:nvSpPr>
          <p:cNvPr id="7" name="Shape 5"/>
          <p:cNvSpPr/>
          <p:nvPr/>
        </p:nvSpPr>
        <p:spPr>
          <a:xfrm>
            <a:off x="6096000" y="1989733"/>
            <a:ext cx="5283200" cy="0"/>
          </a:xfrm>
          <a:prstGeom prst="line">
            <a:avLst/>
          </a:prstGeom>
          <a:noFill/>
          <a:ln w="25400">
            <a:solidFill>
              <a:srgbClr val="131313"/>
            </a:solidFill>
            <a:prstDash val="solid"/>
          </a:ln>
        </p:spPr>
      </p:sp>
      <p:sp>
        <p:nvSpPr>
          <p:cNvPr id="8" name="Text 6"/>
          <p:cNvSpPr/>
          <p:nvPr/>
        </p:nvSpPr>
        <p:spPr>
          <a:xfrm>
            <a:off x="6096000" y="2154833"/>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Datos abiertos</a:t>
            </a:r>
            <a:endParaRPr lang="en-US" sz="1600" dirty="0"/>
          </a:p>
        </p:txBody>
      </p:sp>
      <p:sp>
        <p:nvSpPr>
          <p:cNvPr id="9" name="Text 7"/>
          <p:cNvSpPr/>
          <p:nvPr/>
        </p:nvSpPr>
        <p:spPr>
          <a:xfrm>
            <a:off x="6096000" y="2474813"/>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Municipios, barrios y parcelas en CSV, todo en un ZIP y un diccionario de cada campo con su fuente.</a:t>
            </a:r>
            <a:endParaRPr lang="en-US" sz="1400" dirty="0"/>
          </a:p>
        </p:txBody>
      </p:sp>
      <p:sp>
        <p:nvSpPr>
          <p:cNvPr id="10" name="Shape 8"/>
          <p:cNvSpPr/>
          <p:nvPr/>
        </p:nvSpPr>
        <p:spPr>
          <a:xfrm>
            <a:off x="812800" y="2985195"/>
            <a:ext cx="5283200" cy="0"/>
          </a:xfrm>
          <a:prstGeom prst="line">
            <a:avLst/>
          </a:prstGeom>
          <a:noFill/>
          <a:ln w="25400">
            <a:solidFill>
              <a:srgbClr val="131313"/>
            </a:solidFill>
            <a:prstDash val="solid"/>
          </a:ln>
        </p:spPr>
      </p:sp>
      <p:sp>
        <p:nvSpPr>
          <p:cNvPr id="11" name="Text 9"/>
          <p:cNvSpPr/>
          <p:nvPr/>
        </p:nvSpPr>
        <p:spPr>
          <a:xfrm>
            <a:off x="812800" y="3150295"/>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Cualquier municipio</a:t>
            </a:r>
            <a:endParaRPr lang="en-US" sz="1600" dirty="0"/>
          </a:p>
        </p:txBody>
      </p:sp>
      <p:sp>
        <p:nvSpPr>
          <p:cNvPr id="12" name="Text 10"/>
          <p:cNvSpPr/>
          <p:nvPr/>
        </p:nvSpPr>
        <p:spPr>
          <a:xfrm>
            <a:off x="812800" y="3470275"/>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178 procesados con el mismo código. Un ayuntamiento puede usarlo mañana.</a:t>
            </a:r>
            <a:endParaRPr lang="en-US" sz="1400" dirty="0"/>
          </a:p>
        </p:txBody>
      </p:sp>
      <p:sp>
        <p:nvSpPr>
          <p:cNvPr id="13" name="Shape 11"/>
          <p:cNvSpPr/>
          <p:nvPr/>
        </p:nvSpPr>
        <p:spPr>
          <a:xfrm>
            <a:off x="6096000" y="2985195"/>
            <a:ext cx="5283200" cy="0"/>
          </a:xfrm>
          <a:prstGeom prst="line">
            <a:avLst/>
          </a:prstGeom>
          <a:noFill/>
          <a:ln w="25400">
            <a:solidFill>
              <a:srgbClr val="C20024"/>
            </a:solidFill>
            <a:prstDash val="solid"/>
          </a:ln>
        </p:spPr>
      </p:sp>
      <p:sp>
        <p:nvSpPr>
          <p:cNvPr id="14" name="Text 12"/>
          <p:cNvSpPr/>
          <p:nvPr/>
        </p:nvSpPr>
        <p:spPr>
          <a:xfrm>
            <a:off x="6096000" y="3150295"/>
            <a:ext cx="544169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313"/>
                </a:solidFill>
                <a:latin typeface="IBM Plex Sans" pitchFamily="34" charset="0"/>
                <a:ea typeface="IBM Plex Sans" pitchFamily="34" charset="-122"/>
                <a:cs typeface="IBM Plex Sans" pitchFamily="34" charset="-120"/>
              </a:rPr>
              <a:t>Lo siguiente</a:t>
            </a:r>
            <a:endParaRPr lang="en-US" sz="1600" dirty="0"/>
          </a:p>
        </p:txBody>
      </p:sp>
      <p:sp>
        <p:nvSpPr>
          <p:cNvPr id="15" name="Text 13"/>
          <p:cNvSpPr/>
          <p:nvPr/>
        </p:nvSpPr>
        <p:spPr>
          <a:xfrm>
            <a:off x="6096000" y="3470275"/>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44"/>
                </a:solidFill>
                <a:latin typeface="IBM Plex Sans" pitchFamily="34" charset="0"/>
                <a:ea typeface="IBM Plex Sans" pitchFamily="34" charset="-122"/>
                <a:cs typeface="IBM Plex Sans" pitchFamily="34" charset="-120"/>
              </a:rPr>
              <a:t>Leer el BOCM y las licitaciones para saber qué colegios ya están en obras.</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7716B"/>
                </a:solidFill>
                <a:latin typeface="IBM Plex Sans" pitchFamily="34" charset="0"/>
                <a:ea typeface="IBM Plex Sans" pitchFamily="34" charset="-122"/>
                <a:cs typeface="IBM Plex Sans" pitchFamily="34" charset="-120"/>
              </a:rPr>
              <a:t>Datos abiertos y software libre · Enlace de «Datos abiertos» en la cabecera de la web</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B8001F"/>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50" kern="0" dirty="0">
                <a:solidFill>
                  <a:srgbClr val="FFD6DC"/>
                </a:solidFill>
                <a:latin typeface="IBM Plex Sans" pitchFamily="34" charset="0"/>
                <a:ea typeface="IBM Plex Sans" pitchFamily="34" charset="-122"/>
                <a:cs typeface="IBM Plex Sans" pitchFamily="34" charset="-120"/>
              </a:rPr>
              <a:t>De la cuna a las canas</a:t>
            </a:r>
            <a:endParaRPr lang="en-US" sz="1600" dirty="0"/>
          </a:p>
        </p:txBody>
      </p:sp>
      <p:sp>
        <p:nvSpPr>
          <p:cNvPr id="3" name="Text 1"/>
          <p:cNvSpPr/>
          <p:nvPr>
            <p:ph type="title"/>
          </p:nvPr>
        </p:nvSpPr>
        <p:spPr>
          <a:xfrm>
            <a:off x="812800" y="2369939"/>
            <a:ext cx="10883392" cy="2036961"/>
          </a:xfrm>
          <a:prstGeom prst="rect">
            <a:avLst/>
          </a:prstGeom>
          <a:noFill/>
          <a:ln/>
        </p:spPr>
        <p:txBody>
          <a:bodyPr wrap="square" lIns="0" tIns="0" rIns="0" bIns="0" rtlCol="0" anchor="t">
            <a:normAutofit/>
          </a:bodyPr>
          <a:lstStyle/>
          <a:p>
            <a:pPr algn="l" indent="0" marL="0">
              <a:lnSpc>
                <a:spcPts val="5280"/>
              </a:lnSpc>
              <a:buNone/>
            </a:pPr>
            <a:r>
              <a:rPr lang="en-US" sz="4800" b="1" i="0" spc="-50" kern="0" dirty="0">
                <a:solidFill>
                  <a:srgbClr val="FBFAF8"/>
                </a:solidFill>
                <a:latin typeface="IBM Plex Sans" pitchFamily="34" charset="0"/>
                <a:ea typeface="IBM Plex Sans" pitchFamily="34" charset="-122"/>
                <a:cs typeface="IBM Plex Sans" pitchFamily="34" charset="-120"/>
              </a:rPr>
              <a:t>Que la próxima vez, cuando lleguen las familias, el colegio ya esté esperándolas.</a:t>
            </a:r>
            <a:endParaRPr lang="en-US" sz="4800" dirty="0"/>
          </a:p>
        </p:txBody>
      </p:sp>
      <p:sp>
        <p:nvSpPr>
          <p:cNvPr id="4" name="Text 2"/>
          <p:cNvSpPr/>
          <p:nvPr/>
        </p:nvSpPr>
        <p:spPr>
          <a:xfrm>
            <a:off x="812800" y="5654080"/>
            <a:ext cx="117324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BFAF8"/>
                </a:solidFill>
                <a:latin typeface="IBM Plex Sans" pitchFamily="34" charset="0"/>
                <a:ea typeface="IBM Plex Sans" pitchFamily="34" charset="-122"/>
                <a:cs typeface="IBM Plex Sans" pitchFamily="34" charset="-120"/>
              </a:rPr>
              <a:t>Gracias</a:t>
            </a:r>
            <a:endParaRPr lang="en-US" sz="2200" dirty="0"/>
          </a:p>
        </p:txBody>
      </p:sp>
      <p:sp>
        <p:nvSpPr>
          <p:cNvPr id="5" name="Text 3"/>
          <p:cNvSpPr/>
          <p:nvPr/>
        </p:nvSpPr>
        <p:spPr>
          <a:xfrm>
            <a:off x="7498953" y="5831880"/>
            <a:ext cx="388024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E3E7"/>
                </a:solidFill>
                <a:latin typeface="IBM Plex Sans" pitchFamily="34" charset="0"/>
                <a:ea typeface="IBM Plex Sans" pitchFamily="34" charset="-122"/>
                <a:cs typeface="IBM Plex Sans" pitchFamily="34" charset="-120"/>
              </a:rPr>
              <a:t>Cuna y Canas · MAD Open Data Challenge 2026</a:t>
            </a:r>
            <a:endParaRPr lang="en-US" sz="1200" dirty="0"/>
          </a:p>
        </p:txBody>
      </p:sp>
    </p:spTree>
  </p:cSld>
  <p:clrMapOvr>
    <a:masterClrMapping/>
  </p:clrMapOvr>
</p:sld>
</file>

<file path=ppt/theme/theme1.xml><?xml version="1.0" encoding="utf-8"?>
<a:theme xmlns:a="http://schemas.openxmlformats.org/drawingml/2006/main" name="Cuna y Canas · Presentación final">
  <a:themeElements>
    <a:clrScheme name="Cuna y Canas · Presentación final">
      <a:dk1>
        <a:srgbClr val="131313"/>
      </a:dk1>
      <a:lt1>
        <a:srgbClr val="FBFAF8"/>
      </a:lt1>
      <a:dk2>
        <a:srgbClr val="4D4D4C"/>
      </a:dk2>
      <a:lt2>
        <a:srgbClr val="E4E3E1"/>
      </a:lt2>
      <a:accent1>
        <a:srgbClr val="C20024"/>
      </a:accent1>
      <a:accent2>
        <a:srgbClr val="FF8094"/>
      </a:accent2>
      <a:accent3>
        <a:srgbClr val="FFD6DC"/>
      </a:accent3>
      <a:accent4>
        <a:srgbClr val="B8001F"/>
      </a:accent4>
      <a:accent5>
        <a:srgbClr val="DE0029"/>
      </a:accent5>
      <a:accent6>
        <a:srgbClr val="4A4744"/>
      </a:accent6>
      <a:hlink>
        <a:srgbClr val="0563C1"/>
      </a:hlink>
      <a:folHlink>
        <a:srgbClr val="954F72"/>
      </a:folHlink>
    </a:clrScheme>
    <a:fontScheme name="Cuna y Canas · Presentación fina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Cuna y Canas · Presentación final</dc:title>
  <dc:subject/>
  <dc:creator/>
  <cp:lastModifiedBy/>
  <cp:revision>1</cp:revision>
  <dcterms:created xsi:type="dcterms:W3CDTF">2026-10-18T10:07:37Z</dcterms:created>
  <dcterms:modified xsi:type="dcterms:W3CDTF">2026-10-18T10:07:37Z</dcterms:modified>
</cp:coreProperties>
</file>